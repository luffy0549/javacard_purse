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60" r:id="rId3"/>
  </p:sldMasterIdLst>
  <p:notesMasterIdLst>
    <p:notesMasterId r:id="rId22"/>
  </p:notesMasterIdLst>
  <p:handoutMasterIdLst>
    <p:handoutMasterId r:id="rId23"/>
  </p:handoutMasterIdLst>
  <p:sldIdLst>
    <p:sldId id="695" r:id="rId4"/>
    <p:sldId id="696" r:id="rId5"/>
    <p:sldId id="763" r:id="rId6"/>
    <p:sldId id="758" r:id="rId7"/>
    <p:sldId id="759" r:id="rId8"/>
    <p:sldId id="760" r:id="rId9"/>
    <p:sldId id="761" r:id="rId10"/>
    <p:sldId id="762" r:id="rId11"/>
    <p:sldId id="764" r:id="rId12"/>
    <p:sldId id="721" r:id="rId13"/>
    <p:sldId id="726" r:id="rId14"/>
    <p:sldId id="722" r:id="rId15"/>
    <p:sldId id="723" r:id="rId16"/>
    <p:sldId id="724" r:id="rId17"/>
    <p:sldId id="765" r:id="rId18"/>
    <p:sldId id="680" r:id="rId19"/>
    <p:sldId id="745" r:id="rId20"/>
    <p:sldId id="668" r:id="rId2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831EF1-D89C-46CC-AAE6-304415D5BB7C}">
          <p14:sldIdLst>
            <p14:sldId id="695"/>
            <p14:sldId id="696"/>
            <p14:sldId id="763"/>
            <p14:sldId id="758"/>
            <p14:sldId id="759"/>
            <p14:sldId id="760"/>
            <p14:sldId id="761"/>
            <p14:sldId id="762"/>
            <p14:sldId id="764"/>
            <p14:sldId id="721"/>
            <p14:sldId id="726"/>
            <p14:sldId id="722"/>
            <p14:sldId id="723"/>
            <p14:sldId id="724"/>
            <p14:sldId id="765"/>
            <p14:sldId id="680"/>
            <p14:sldId id="745"/>
            <p14:sldId id="6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0000"/>
    <a:srgbClr val="3333FF"/>
    <a:srgbClr val="3399FF"/>
    <a:srgbClr val="CCECFF"/>
    <a:srgbClr val="F878BB"/>
    <a:srgbClr val="E0932C"/>
    <a:srgbClr val="F268EB"/>
    <a:srgbClr val="E56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80" autoAdjust="0"/>
    <p:restoredTop sz="59854" autoAdjust="0"/>
  </p:normalViewPr>
  <p:slideViewPr>
    <p:cSldViewPr>
      <p:cViewPr varScale="1">
        <p:scale>
          <a:sx n="71" d="100"/>
          <a:sy n="71" d="100"/>
        </p:scale>
        <p:origin x="-1548" y="-96"/>
      </p:cViewPr>
      <p:guideLst>
        <p:guide orient="horz" pos="73"/>
        <p:guide pos="28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910" y="-84"/>
      </p:cViewPr>
      <p:guideLst>
        <p:guide orient="horz" pos="2880"/>
        <p:guide pos="213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B35A5DA-2D7C-42B2-B104-1067744C857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E698CAE-EE2B-46BF-AE5F-F5ADF090DB27}" type="slidenum">
              <a:rPr lang="en-US" altLang="zh-CN"/>
            </a:fld>
            <a:endParaRPr lang="en-US" altLang="zh-CN"/>
          </a:p>
        </p:txBody>
      </p:sp>
      <p:sp>
        <p:nvSpPr>
          <p:cNvPr id="13" name="备注占位符 1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14" name="幻灯片图像占位符 1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 userDrawn="1"/>
        </p:nvSpPr>
        <p:spPr bwMode="auto">
          <a:xfrm>
            <a:off x="0" y="6740525"/>
            <a:ext cx="9144000" cy="117475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r">
              <a:defRPr/>
            </a:pPr>
            <a:endParaRPr lang="zh-CN" altLang="zh-CN" sz="1600" b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Picture 14" descr="gdut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400675" y="260350"/>
            <a:ext cx="971550" cy="95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5" descr="18x6户外-新"/>
          <p:cNvPicPr>
            <a:picLocks noChangeAspect="1" noChangeArrowheads="1"/>
          </p:cNvPicPr>
          <p:nvPr userDrawn="1"/>
        </p:nvPicPr>
        <p:blipFill>
          <a:blip r:embed="rId3"/>
          <a:srcRect l="67012" b="87825"/>
          <a:stretch>
            <a:fillRect/>
          </a:stretch>
        </p:blipFill>
        <p:spPr bwMode="auto">
          <a:xfrm>
            <a:off x="358775" y="1233488"/>
            <a:ext cx="8318500" cy="84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6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4075113" y="333375"/>
            <a:ext cx="998537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7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2700338" y="277813"/>
            <a:ext cx="963612" cy="955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8AB30DF8-81F7-4080-A390-5DB09EF199DF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53FE44C1-8B84-4C4B-99A4-8D1A24E10902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028B1577-3DEF-4017-9161-B8BC4E1CDC1E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02B363FE-821A-462C-B2D8-F2188A603E16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400122BD-ACB6-4040-B68F-943EBC4E07E3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7CE1780D-B665-43E7-8B6C-520F3AC20835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DED63560-FEB2-4EFB-B7D6-0F274E4ED5BA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3E7D11D2-8997-4BC3-A257-CE4E58AA6F93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9C327A50-5592-4B4B-BEE5-497B920E5192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6410E39F-0733-4626-BA8D-BD4D3E565B1E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圆角矩形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矩形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442325" y="6403975"/>
            <a:ext cx="701675" cy="457200"/>
          </a:xfrm>
        </p:spPr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30EBF7E-A8C9-459F-8D2C-B0F53A4573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A56D1-363B-473F-9ABD-CFE4823C8D9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圆角矩形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101013" y="6165850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BEAF7-B96A-4FAC-8273-C25879A1748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550AF8-B4D5-421A-A596-D00A1ADAFD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831F4-5047-48EC-9323-FDFC5AAC7C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4AA93-8072-4AF9-A244-F8C9C2B5A1E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F3AD2-8503-4CC6-8DA1-7F7BC610F4E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圆角矩形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8AF958-575B-464F-87F9-99E22E4B362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490FB-4128-4615-AB2F-96392C08081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B2144-4A70-436F-938E-8C7F21BFD84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12A23-E3E1-4596-BA30-350B99A8AC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6.jpeg"/><Relationship Id="rId13" Type="http://schemas.openxmlformats.org/officeDocument/2006/relationships/image" Target="../media/image3.png"/><Relationship Id="rId12" Type="http://schemas.openxmlformats.org/officeDocument/2006/relationships/image" Target="../media/image5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9788" y="6481763"/>
            <a:ext cx="684212" cy="3317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600" b="0">
                <a:solidFill>
                  <a:schemeClr val="tx1"/>
                </a:solidFill>
                <a:effectLst/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5D72E950-4C2E-41B0-A6DF-ACE83D3AE20D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4695" name="Rectangle 7"/>
          <p:cNvSpPr>
            <a:spLocks noChangeArrowheads="1"/>
          </p:cNvSpPr>
          <p:nvPr/>
        </p:nvSpPr>
        <p:spPr bwMode="auto">
          <a:xfrm>
            <a:off x="1763713" y="404813"/>
            <a:ext cx="7380287" cy="71437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</a:ln>
          <a:effectLst/>
        </p:spPr>
        <p:txBody>
          <a:bodyPr wrap="none" anchor="b"/>
          <a:lstStyle/>
          <a:p>
            <a:pPr algn="r">
              <a:defRPr/>
            </a:pPr>
            <a:r>
              <a:rPr lang="en-US" altLang="zh-CN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2009</a:t>
            </a:r>
            <a:r>
              <a:rPr lang="zh-CN" altLang="en-US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年度</a:t>
            </a:r>
            <a:r>
              <a:rPr lang="en-US" altLang="zh-CN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NSFC-</a:t>
            </a:r>
            <a:r>
              <a:rPr lang="zh-CN" altLang="en-US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广东联合基金重点项目</a:t>
            </a:r>
            <a:endParaRPr lang="zh-CN" altLang="en-US" b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MingLiU" panose="02020509000000000000" pitchFamily="49" charset="-120"/>
              <a:ea typeface="MingLiU" panose="02020509000000000000" pitchFamily="49" charset="-120"/>
              <a:cs typeface="经典繁粗仿" pitchFamily="49" charset="-122"/>
            </a:endParaRPr>
          </a:p>
        </p:txBody>
      </p:sp>
      <p:pic>
        <p:nvPicPr>
          <p:cNvPr id="1028" name="Picture 15" descr="gdut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1260475" y="7938"/>
            <a:ext cx="611188" cy="59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2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50875" y="28575"/>
            <a:ext cx="6492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2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52388" y="31750"/>
            <a:ext cx="595312" cy="588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j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2" name="标题占位符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9144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2053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9D73057C-6982-4A51-BD18-32EB102C994D}" type="datetimeFigureOut">
              <a:rPr lang="en-US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493CEBFE-ABF7-4B27-939B-08E9B3E2F7C1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  <a:ea typeface="幼圆" panose="02010509060101010101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4"/>
          <p:cNvSpPr>
            <a:spLocks noGrp="1"/>
          </p:cNvSpPr>
          <p:nvPr>
            <p:ph type="ctrTitle"/>
          </p:nvPr>
        </p:nvSpPr>
        <p:spPr>
          <a:xfrm>
            <a:off x="518864" y="1526927"/>
            <a:ext cx="8229600" cy="1470025"/>
          </a:xfrm>
        </p:spPr>
        <p:txBody>
          <a:bodyPr/>
          <a:lstStyle/>
          <a:p>
            <a:pPr eaLnBrk="1" hangingPunct="1"/>
            <a:r>
              <a:rPr lang="zh-CN" altLang="en-US" sz="6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电子钱包的功能</a:t>
            </a:r>
            <a:endParaRPr lang="zh-CN" altLang="en-US" sz="6000" b="1" dirty="0" smtClean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5603" name="矩形 7"/>
          <p:cNvSpPr>
            <a:spLocks noChangeArrowheads="1"/>
          </p:cNvSpPr>
          <p:nvPr/>
        </p:nvSpPr>
        <p:spPr bwMode="auto">
          <a:xfrm>
            <a:off x="3815917" y="4905164"/>
            <a:ext cx="5184576" cy="12312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5000"/>
              </a:lnSpc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董涛涛 商家煜 王鲸寓</a:t>
            </a:r>
            <a:endParaRPr lang="en-US" altLang="zh-CN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 eaLnBrk="0" hangingPunct="0">
              <a:lnSpc>
                <a:spcPct val="125000"/>
              </a:lnSpc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2017.4.10 - 15</a:t>
            </a:r>
            <a:endParaRPr lang="zh-CN" altLang="en-US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圈存 </a:t>
            </a:r>
            <a:endParaRPr lang="zh-CN" altLang="en-US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消费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余额查询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圈存 </a:t>
            </a:r>
            <a:endParaRPr lang="zh-CN" altLang="en-US" sz="32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消费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余额查询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5756" y="368660"/>
            <a:ext cx="4762872" cy="832954"/>
          </a:xfrm>
        </p:spPr>
        <p:txBody>
          <a:bodyPr/>
          <a:lstStyle/>
          <a:p>
            <a:pPr algn="ctr"/>
            <a:r>
              <a:rPr lang="zh-CN" altLang="en-US" sz="44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圈存</a:t>
            </a:r>
            <a:endParaRPr lang="zh-CN" altLang="en-US" sz="4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95536" y="1196752"/>
            <a:ext cx="3780420" cy="4823048"/>
          </a:xfrm>
        </p:spPr>
        <p:txBody>
          <a:bodyPr/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概念：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持卡人</a:t>
            </a:r>
            <a:r>
              <a:rPr lang="zh-CN" altLang="en-US" sz="2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将其在银行相应帐户上的资金划转到电子钱包中。</a:t>
            </a:r>
            <a:endParaRPr lang="en-US" altLang="zh-CN" sz="2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工作流程如右图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233420" y="1045210"/>
          <a:ext cx="5915660" cy="5622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Visio" r:id="rId1" imgW="5626100" imgH="4953000" progId="Visio.Drawing.11">
                  <p:embed/>
                </p:oleObj>
              </mc:Choice>
              <mc:Fallback>
                <p:oleObj name="Visio" r:id="rId1" imgW="5626100" imgH="4953000" progId="Visio.Drawing.11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420" y="1045210"/>
                        <a:ext cx="5915660" cy="5622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5756" y="368660"/>
            <a:ext cx="4762872" cy="832954"/>
          </a:xfrm>
        </p:spPr>
        <p:txBody>
          <a:bodyPr/>
          <a:lstStyle/>
          <a:p>
            <a:pPr algn="ctr"/>
            <a:r>
              <a:rPr lang="zh-CN" altLang="en-US" sz="44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圈存</a:t>
            </a:r>
            <a:endParaRPr lang="zh-CN" altLang="en-US" sz="4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终端发出初始化圈存</a:t>
            </a:r>
            <a:r>
              <a:rPr lang="zh-CN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命令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935596" y="2269976"/>
          <a:ext cx="7772401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6543"/>
                <a:gridCol w="3212929"/>
                <a:gridCol w="3212929"/>
              </a:tblGrid>
              <a:tr h="2133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代码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值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2133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CLA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80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2133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INS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50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2133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P1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00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2133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P2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02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2133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Lc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0B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274250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Data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密钥标识符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effectLst/>
                        </a:rPr>
                        <a:t>08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274250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交易金额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00 00 10 00</a:t>
                      </a:r>
                      <a:r>
                        <a:rPr lang="zh-CN" sz="1800" kern="100">
                          <a:effectLst/>
                        </a:rPr>
                        <a:t>（</a:t>
                      </a:r>
                      <a:r>
                        <a:rPr lang="en-US" sz="1800" kern="100">
                          <a:effectLst/>
                        </a:rPr>
                        <a:t>40.96</a:t>
                      </a:r>
                      <a:r>
                        <a:rPr lang="zh-CN" sz="1800" kern="100">
                          <a:effectLst/>
                        </a:rPr>
                        <a:t>元）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274250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终端机编号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00 11 22 33 44 55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2133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Le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10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5756" y="368660"/>
            <a:ext cx="4762872" cy="832954"/>
          </a:xfrm>
        </p:spPr>
        <p:txBody>
          <a:bodyPr/>
          <a:lstStyle/>
          <a:p>
            <a:pPr algn="ctr"/>
            <a:r>
              <a:rPr lang="zh-CN" altLang="en-US" sz="44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圈存</a:t>
            </a:r>
            <a:endParaRPr lang="zh-CN" altLang="en-US" sz="4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卡对初始化圈存命令进行处理</a:t>
            </a:r>
            <a:endParaRPr lang="zh-CN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卡根据密钥</a:t>
            </a:r>
            <a:r>
              <a:rPr lang="zh-CN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标识符查找圈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存</a:t>
            </a:r>
            <a:r>
              <a:rPr lang="zh-CN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密钥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卡生成随机数，</a:t>
            </a:r>
            <a:r>
              <a:rPr lang="zh-CN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利用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圈存</a:t>
            </a:r>
            <a:r>
              <a:rPr lang="zh-CN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密钥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产生过程密钥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卡利用所生成的过程密钥产生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MAC1</a:t>
            </a:r>
            <a:endParaRPr lang="zh-CN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卡将返回相应的数据</a:t>
            </a:r>
            <a:endParaRPr lang="zh-CN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23628" y="4509120"/>
          <a:ext cx="6189345" cy="1706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6224"/>
                <a:gridCol w="417312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说明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值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EP</a:t>
                      </a:r>
                      <a:r>
                        <a:rPr lang="zh-CN" sz="1600" kern="100">
                          <a:effectLst/>
                        </a:rPr>
                        <a:t>余额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00 00 00 00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EP</a:t>
                      </a:r>
                      <a:r>
                        <a:rPr lang="zh-CN" sz="1600" kern="100" dirty="0">
                          <a:effectLst/>
                        </a:rPr>
                        <a:t>联机交易序列号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00 00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密钥版本号</a:t>
                      </a:r>
                      <a:r>
                        <a:rPr lang="en-US" sz="1600" kern="100">
                          <a:effectLst/>
                        </a:rPr>
                        <a:t>DPK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算法标识</a:t>
                      </a:r>
                      <a:r>
                        <a:rPr lang="en-US" sz="1600" kern="100">
                          <a:effectLst/>
                        </a:rPr>
                        <a:t>DPK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伪随机数（</a:t>
                      </a:r>
                      <a:r>
                        <a:rPr lang="en-US" sz="1600" kern="100">
                          <a:effectLst/>
                        </a:rPr>
                        <a:t>IC</a:t>
                      </a:r>
                      <a:r>
                        <a:rPr lang="zh-CN" sz="1600" kern="100">
                          <a:effectLst/>
                        </a:rPr>
                        <a:t>卡）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B1 EE 18 0C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MAC1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74320" indent="1600200"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F2 0B 5E 52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5756" y="368660"/>
            <a:ext cx="4762872" cy="832954"/>
          </a:xfrm>
        </p:spPr>
        <p:txBody>
          <a:bodyPr/>
          <a:lstStyle/>
          <a:p>
            <a:pPr algn="ctr"/>
            <a:r>
              <a:rPr lang="zh-CN" altLang="en-US" sz="44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圈存</a:t>
            </a:r>
            <a:endParaRPr lang="zh-CN" altLang="en-US" sz="4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终端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验证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MAC1</a:t>
            </a:r>
            <a:r>
              <a:rPr lang="zh-CN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若验证成功</a:t>
            </a:r>
            <a:r>
              <a:rPr lang="zh-CN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，将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同意交易</a:t>
            </a:r>
            <a:r>
              <a:rPr lang="zh-CN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进行。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终端向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卡发送圈存命令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35596" y="3032956"/>
          <a:ext cx="7751205" cy="26447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2871"/>
                <a:gridCol w="3204167"/>
                <a:gridCol w="3204167"/>
              </a:tblGrid>
              <a:tr h="243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代码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值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243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CLA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80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243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INS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52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243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P1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243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P2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243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Lc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0B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312623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Data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交易日期（主机）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20 11 12 21</a:t>
                      </a:r>
                      <a:r>
                        <a:rPr lang="zh-CN" sz="1600" kern="100">
                          <a:effectLst/>
                        </a:rPr>
                        <a:t>（</a:t>
                      </a:r>
                      <a:r>
                        <a:rPr lang="en-US" sz="1600" kern="100">
                          <a:effectLst/>
                        </a:rPr>
                        <a:t>2011</a:t>
                      </a:r>
                      <a:r>
                        <a:rPr lang="zh-CN" sz="1600" kern="100">
                          <a:effectLst/>
                        </a:rPr>
                        <a:t>年</a:t>
                      </a:r>
                      <a:r>
                        <a:rPr lang="en-US" sz="1600" kern="100">
                          <a:effectLst/>
                        </a:rPr>
                        <a:t>12</a:t>
                      </a:r>
                      <a:r>
                        <a:rPr lang="zh-CN" sz="1600" kern="100">
                          <a:effectLst/>
                        </a:rPr>
                        <a:t>月</a:t>
                      </a:r>
                      <a:r>
                        <a:rPr lang="en-US" sz="1600" kern="100">
                          <a:effectLst/>
                        </a:rPr>
                        <a:t>11</a:t>
                      </a:r>
                      <a:r>
                        <a:rPr lang="zh-CN" sz="1600" kern="100">
                          <a:effectLst/>
                        </a:rPr>
                        <a:t>日）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312623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交易时间（主机）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21 48 22 </a:t>
                      </a:r>
                      <a:r>
                        <a:rPr lang="zh-CN" sz="1600" kern="100" dirty="0">
                          <a:effectLst/>
                        </a:rPr>
                        <a:t>（</a:t>
                      </a:r>
                      <a:r>
                        <a:rPr lang="en-US" sz="1600" kern="100" dirty="0">
                          <a:effectLst/>
                        </a:rPr>
                        <a:t>21</a:t>
                      </a:r>
                      <a:r>
                        <a:rPr lang="zh-CN" sz="1600" kern="100" dirty="0">
                          <a:effectLst/>
                        </a:rPr>
                        <a:t>点</a:t>
                      </a:r>
                      <a:r>
                        <a:rPr lang="en-US" sz="1600" kern="100" dirty="0">
                          <a:effectLst/>
                        </a:rPr>
                        <a:t>48</a:t>
                      </a:r>
                      <a:r>
                        <a:rPr lang="zh-CN" sz="1600" kern="100" dirty="0">
                          <a:effectLst/>
                        </a:rPr>
                        <a:t>分</a:t>
                      </a:r>
                      <a:r>
                        <a:rPr lang="en-US" sz="1600" kern="100" dirty="0">
                          <a:effectLst/>
                        </a:rPr>
                        <a:t>22</a:t>
                      </a:r>
                      <a:r>
                        <a:rPr lang="zh-CN" sz="1600" kern="100" dirty="0">
                          <a:effectLst/>
                        </a:rPr>
                        <a:t>秒）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312623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MAC2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3A 84 5B F0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243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Le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04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5756" y="368660"/>
            <a:ext cx="4762872" cy="832954"/>
          </a:xfrm>
        </p:spPr>
        <p:txBody>
          <a:bodyPr/>
          <a:lstStyle/>
          <a:p>
            <a:pPr algn="ctr"/>
            <a:r>
              <a:rPr lang="zh-CN" altLang="en-US" sz="44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圈存</a:t>
            </a:r>
            <a:endParaRPr lang="zh-CN" altLang="en-US" sz="4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卡收到圈存命令后，验证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MAC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，并生成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TAC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码，返回给终端。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19672" y="2816932"/>
          <a:ext cx="6120765" cy="487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2445"/>
                <a:gridCol w="3068320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说明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长度（字节）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TAC</a:t>
                      </a:r>
                      <a:r>
                        <a:rPr lang="zh-CN" sz="1600" kern="100" dirty="0">
                          <a:effectLst/>
                        </a:rPr>
                        <a:t>码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４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圈存 </a:t>
            </a:r>
            <a:endParaRPr lang="zh-CN" altLang="en-US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消费</a:t>
            </a:r>
            <a:endParaRPr lang="zh-CN" altLang="en-US" sz="32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余额查询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835696" y="296144"/>
            <a:ext cx="6012668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消费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3320678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概念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通过消费交易，持卡人可将其电子钱包中的余额来进行消费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工作流程如右所示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599892" y="1448780"/>
          <a:ext cx="5373335" cy="482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Visio" r:id="rId1" imgW="5651500" imgH="4660900" progId="Visio.Drawing.11">
                  <p:embed/>
                </p:oleObj>
              </mc:Choice>
              <mc:Fallback>
                <p:oleObj name="Visio" r:id="rId1" imgW="5651500" imgH="4660900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9892" y="1448780"/>
                        <a:ext cx="5373335" cy="48245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835696" y="296144"/>
            <a:ext cx="6012668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消费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 lvl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终端发出初始化消费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命令</a:t>
            </a:r>
            <a:endParaRPr lang="zh-CN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827584" y="1952836"/>
          <a:ext cx="7772401" cy="2438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6543"/>
                <a:gridCol w="3212929"/>
                <a:gridCol w="3212929"/>
              </a:tblGrid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代码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值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CLA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80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INS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50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P1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P2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02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Lc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0B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177856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Data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密钥标识符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</a:rPr>
                        <a:t>07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177856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交易金额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00 00 10 00</a:t>
                      </a:r>
                      <a:r>
                        <a:rPr lang="zh-CN" sz="1600" kern="100">
                          <a:effectLst/>
                        </a:rPr>
                        <a:t>（</a:t>
                      </a:r>
                      <a:r>
                        <a:rPr lang="en-US" sz="1600" kern="100">
                          <a:effectLst/>
                        </a:rPr>
                        <a:t>40.96</a:t>
                      </a:r>
                      <a:r>
                        <a:rPr lang="zh-CN" sz="1600" kern="100">
                          <a:effectLst/>
                        </a:rPr>
                        <a:t>元）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177856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终端机编号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00 11 22 33 44 55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Le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0F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835696" y="296144"/>
            <a:ext cx="6012668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消费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 lvl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卡对初始化消费命令进行处理</a:t>
            </a:r>
            <a:endParaRPr lang="zh-CN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卡根据密钥</a:t>
            </a:r>
            <a:r>
              <a:rPr lang="zh-CN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标识符消费密钥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卡生成随机数</a:t>
            </a:r>
            <a:r>
              <a:rPr lang="zh-CN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后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卡检查电子钱包余额是否大于或等于交易</a:t>
            </a:r>
            <a:r>
              <a:rPr lang="zh-CN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金额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卡将返回相应的数据</a:t>
            </a:r>
            <a:endParaRPr lang="zh-CN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59632" y="4149080"/>
          <a:ext cx="6189345" cy="20751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1977"/>
                <a:gridCol w="4187368"/>
              </a:tblGrid>
              <a:tr h="6120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说明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值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EP</a:t>
                      </a:r>
                      <a:r>
                        <a:rPr lang="zh-CN" sz="1600" kern="100" dirty="0">
                          <a:effectLst/>
                        </a:rPr>
                        <a:t>余额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00 00 10 00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EP</a:t>
                      </a:r>
                      <a:r>
                        <a:rPr lang="zh-CN" sz="1600" kern="100" dirty="0">
                          <a:effectLst/>
                        </a:rPr>
                        <a:t>脱机交易序列号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00 00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透支限额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00 00 00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密钥版本号</a:t>
                      </a:r>
                      <a:r>
                        <a:rPr lang="en-US" sz="1600" kern="100">
                          <a:effectLst/>
                        </a:rPr>
                        <a:t>DPK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02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算法标识</a:t>
                      </a:r>
                      <a:r>
                        <a:rPr lang="en-US" sz="1600" kern="100">
                          <a:effectLst/>
                        </a:rPr>
                        <a:t>DPK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伪随机数（</a:t>
                      </a:r>
                      <a:r>
                        <a:rPr lang="en-US" sz="1600" kern="100" dirty="0">
                          <a:effectLst/>
                        </a:rPr>
                        <a:t>IC</a:t>
                      </a:r>
                      <a:r>
                        <a:rPr lang="zh-CN" sz="1600" kern="100" dirty="0">
                          <a:effectLst/>
                        </a:rPr>
                        <a:t>卡）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29 88 AE 5A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835696" y="296144"/>
            <a:ext cx="6012668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消费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 lvl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终端生成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MAC1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终端向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卡发送消费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命令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zh-CN" altLang="zh-CN" dirty="0"/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55829" y="2600908"/>
          <a:ext cx="7772401" cy="2682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6543"/>
                <a:gridCol w="3212929"/>
                <a:gridCol w="3212929"/>
              </a:tblGrid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代码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值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CLA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80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INS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54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P1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P2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00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Lc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0F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  <a:tr h="177856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Data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终端交易序号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01 02 03 04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177856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交易日期（主机）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20 11 12 21</a:t>
                      </a:r>
                      <a:r>
                        <a:rPr lang="zh-CN" sz="1600" kern="100">
                          <a:effectLst/>
                        </a:rPr>
                        <a:t>（</a:t>
                      </a:r>
                      <a:r>
                        <a:rPr lang="en-US" sz="1600" kern="100">
                          <a:effectLst/>
                        </a:rPr>
                        <a:t>2011</a:t>
                      </a:r>
                      <a:r>
                        <a:rPr lang="zh-CN" sz="1600" kern="100">
                          <a:effectLst/>
                        </a:rPr>
                        <a:t>年</a:t>
                      </a:r>
                      <a:r>
                        <a:rPr lang="en-US" sz="1600" kern="100">
                          <a:effectLst/>
                        </a:rPr>
                        <a:t>12</a:t>
                      </a:r>
                      <a:r>
                        <a:rPr lang="zh-CN" sz="1600" kern="100">
                          <a:effectLst/>
                        </a:rPr>
                        <a:t>月</a:t>
                      </a:r>
                      <a:r>
                        <a:rPr lang="en-US" sz="1600" kern="100">
                          <a:effectLst/>
                        </a:rPr>
                        <a:t>11</a:t>
                      </a:r>
                      <a:r>
                        <a:rPr lang="zh-CN" sz="1600" kern="100">
                          <a:effectLst/>
                        </a:rPr>
                        <a:t>日）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177856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交易时间（主机）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21 48 22 </a:t>
                      </a:r>
                      <a:r>
                        <a:rPr lang="zh-CN" sz="1600" kern="100">
                          <a:effectLst/>
                        </a:rPr>
                        <a:t>（</a:t>
                      </a:r>
                      <a:r>
                        <a:rPr lang="en-US" sz="1600" kern="100">
                          <a:effectLst/>
                        </a:rPr>
                        <a:t>21</a:t>
                      </a:r>
                      <a:r>
                        <a:rPr lang="zh-CN" sz="1600" kern="100">
                          <a:effectLst/>
                        </a:rPr>
                        <a:t>点</a:t>
                      </a:r>
                      <a:r>
                        <a:rPr lang="en-US" sz="1600" kern="100">
                          <a:effectLst/>
                        </a:rPr>
                        <a:t>48</a:t>
                      </a:r>
                      <a:r>
                        <a:rPr lang="zh-CN" sz="1600" kern="100">
                          <a:effectLst/>
                        </a:rPr>
                        <a:t>分</a:t>
                      </a:r>
                      <a:r>
                        <a:rPr lang="en-US" sz="1600" kern="100">
                          <a:effectLst/>
                        </a:rPr>
                        <a:t>22</a:t>
                      </a:r>
                      <a:r>
                        <a:rPr lang="zh-CN" sz="1600" kern="100">
                          <a:effectLst/>
                        </a:rPr>
                        <a:t>秒）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177856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MAC1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3A 84 5B F0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</a:tr>
              <a:tr h="138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Le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08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9285" marR="59285" marT="0" marB="0" anchor="ctr"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835696" y="296144"/>
            <a:ext cx="6012668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消费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卡收到消费命令后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，产生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过程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密钥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，并验证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MAC1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卡生成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MAC2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TAC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码，并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返回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给终端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buNone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331640" y="2924944"/>
          <a:ext cx="6120765" cy="731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2445"/>
                <a:gridCol w="3068320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说明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长度（字节）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交易验证码</a:t>
                      </a:r>
                      <a:r>
                        <a:rPr lang="en-US" sz="1600" kern="100" dirty="0">
                          <a:effectLst/>
                        </a:rPr>
                        <a:t>TAC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4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MAC2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４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圈存 </a:t>
            </a:r>
            <a:endParaRPr lang="zh-CN" altLang="en-US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消费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余额查询</a:t>
            </a:r>
            <a:endParaRPr lang="zh-CN" altLang="en-US" sz="32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735796" y="260648"/>
            <a:ext cx="3564396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余额查询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终端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发送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查询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余额（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GET BALANCE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命令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IC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卡返回电子钱包余额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547664" y="2060848"/>
          <a:ext cx="6189345" cy="1950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5035"/>
                <a:gridCol w="5274310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代码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值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CLA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80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INS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5C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P1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P2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02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Lc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不存在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Data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不存在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Le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04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457611" y="4869160"/>
          <a:ext cx="6120765" cy="487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2445"/>
                <a:gridCol w="3068320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说明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长度（字节）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EP</a:t>
                      </a:r>
                      <a:r>
                        <a:rPr lang="zh-CN" sz="1600" kern="100" dirty="0">
                          <a:effectLst/>
                        </a:rPr>
                        <a:t>余额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４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4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任务</a:t>
            </a:r>
            <a:endParaRPr lang="zh-CN" altLang="en-US" sz="4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根据流程完成消费和查询余额的操作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完善所有指令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0608" y="0"/>
            <a:ext cx="10844055" cy="6861175"/>
          </a:xfrm>
          <a:prstGeom prst="rect">
            <a:avLst/>
          </a:prstGeom>
        </p:spPr>
      </p:pic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172200" y="6191250"/>
            <a:ext cx="2476500" cy="476250"/>
          </a:xfrm>
          <a:prstGeom prst="rect">
            <a:avLst/>
          </a:prstGeom>
          <a:noFill/>
          <a:ln>
            <a:miter lim="800000"/>
          </a:ln>
        </p:spPr>
        <p:txBody>
          <a:bodyPr wrap="square" lIns="91440" tIns="45720" rIns="91440" bIns="45720" anchorCtr="0"/>
          <a:lstStyle>
            <a:lvl1pPr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C8E3AA71-A26B-4DEC-97FE-63A87B34C4D4}" type="slidenum">
              <a:rPr lang="en-US" altLang="zh-CN" sz="1400">
                <a:solidFill>
                  <a:schemeClr val="tx2"/>
                </a:solidFill>
              </a:rPr>
            </a:fld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358080" y="173509"/>
            <a:ext cx="8534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4000" dirty="0">
                <a:solidFill>
                  <a:schemeClr val="accent1"/>
                </a:solidFill>
                <a:ea typeface="隶书" panose="02010509060101010101" pitchFamily="49" charset="-122"/>
              </a:rPr>
              <a:t>迷人风景只有站在一定高度才能领略，望诸君努力，谢谢！</a:t>
            </a:r>
            <a:endParaRPr lang="zh-CN" altLang="en-US" sz="4000" dirty="0">
              <a:solidFill>
                <a:schemeClr val="accent1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9999FF"/>
            </a:gs>
            <a:gs pos="50000">
              <a:srgbClr val="333399"/>
            </a:gs>
            <a:gs pos="100000">
              <a:srgbClr val="9999FF"/>
            </a:gs>
          </a:gsLst>
          <a:lin ang="189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1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9999FF"/>
            </a:gs>
            <a:gs pos="50000">
              <a:srgbClr val="333399"/>
            </a:gs>
            <a:gs pos="100000">
              <a:srgbClr val="9999FF"/>
            </a:gs>
          </a:gsLst>
          <a:lin ang="189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1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定义 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1340</Words>
  <Application>WPS 演示</Application>
  <PresentationFormat>全屏显示(4:3)</PresentationFormat>
  <Paragraphs>508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8" baseType="lpstr">
      <vt:lpstr>Arial</vt:lpstr>
      <vt:lpstr>宋体</vt:lpstr>
      <vt:lpstr>Wingdings</vt:lpstr>
      <vt:lpstr>黑体</vt:lpstr>
      <vt:lpstr>MingLiU</vt:lpstr>
      <vt:lpstr>经典繁粗仿</vt:lpstr>
      <vt:lpstr>Times New Roman</vt:lpstr>
      <vt:lpstr>Franklin Gothic Book</vt:lpstr>
      <vt:lpstr>幼圆</vt:lpstr>
      <vt:lpstr>Wingdings 2</vt:lpstr>
      <vt:lpstr>楷体</vt:lpstr>
      <vt:lpstr>Calibri</vt:lpstr>
      <vt:lpstr>Times New Roman</vt:lpstr>
      <vt:lpstr>隶书</vt:lpstr>
      <vt:lpstr>微软雅黑</vt:lpstr>
      <vt:lpstr>PMingLiU-ExtB</vt:lpstr>
      <vt:lpstr>自定义设计方案</vt:lpstr>
      <vt:lpstr>平衡</vt:lpstr>
      <vt:lpstr>Visio.Drawing.11</vt:lpstr>
      <vt:lpstr>Visio.Drawing.11</vt:lpstr>
      <vt:lpstr>电子钱包的功能</vt:lpstr>
      <vt:lpstr>PowerPoint 演示文稿</vt:lpstr>
      <vt:lpstr>PowerPoint 演示文稿</vt:lpstr>
      <vt:lpstr>圈存</vt:lpstr>
      <vt:lpstr>圈存</vt:lpstr>
      <vt:lpstr>圈存</vt:lpstr>
      <vt:lpstr>圈存</vt:lpstr>
      <vt:lpstr>圈存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任务</vt:lpstr>
      <vt:lpstr>PowerPoint 演示文稿</vt:lpstr>
    </vt:vector>
  </TitlesOfParts>
  <Company>中山大学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信息服务的RFID理论与技术研究</dc:title>
  <dc:creator>Administrator</dc:creator>
  <cp:lastModifiedBy>ASUS</cp:lastModifiedBy>
  <cp:revision>2753</cp:revision>
  <dcterms:created xsi:type="dcterms:W3CDTF">2005-10-18T02:59:00Z</dcterms:created>
  <dcterms:modified xsi:type="dcterms:W3CDTF">2017-03-28T13:55:20Z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