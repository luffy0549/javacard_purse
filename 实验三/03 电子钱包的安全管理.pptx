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3"/>
  </p:sldMasterIdLst>
  <p:notesMasterIdLst>
    <p:notesMasterId r:id="rId15"/>
  </p:notesMasterIdLst>
  <p:handoutMasterIdLst>
    <p:handoutMasterId r:id="rId26"/>
  </p:handoutMasterIdLst>
  <p:sldIdLst>
    <p:sldId id="695" r:id="rId4"/>
    <p:sldId id="696" r:id="rId5"/>
    <p:sldId id="731" r:id="rId6"/>
    <p:sldId id="701" r:id="rId7"/>
    <p:sldId id="736" r:id="rId8"/>
    <p:sldId id="777" r:id="rId9"/>
    <p:sldId id="778" r:id="rId10"/>
    <p:sldId id="738" r:id="rId11"/>
    <p:sldId id="728" r:id="rId12"/>
    <p:sldId id="730" r:id="rId13"/>
    <p:sldId id="729" r:id="rId14"/>
    <p:sldId id="791" r:id="rId16"/>
    <p:sldId id="739" r:id="rId17"/>
    <p:sldId id="742" r:id="rId18"/>
    <p:sldId id="727" r:id="rId19"/>
    <p:sldId id="798" r:id="rId20"/>
    <p:sldId id="800" r:id="rId21"/>
    <p:sldId id="801" r:id="rId22"/>
    <p:sldId id="802" r:id="rId23"/>
    <p:sldId id="737" r:id="rId24"/>
    <p:sldId id="668" r:id="rId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831EF1-D89C-46CC-AAE6-304415D5BB7C}">
          <p14:sldIdLst>
            <p14:sldId id="695"/>
            <p14:sldId id="696"/>
            <p14:sldId id="731"/>
            <p14:sldId id="701"/>
            <p14:sldId id="736"/>
            <p14:sldId id="777"/>
            <p14:sldId id="778"/>
            <p14:sldId id="738"/>
            <p14:sldId id="728"/>
            <p14:sldId id="730"/>
            <p14:sldId id="729"/>
            <p14:sldId id="791"/>
            <p14:sldId id="739"/>
            <p14:sldId id="742"/>
            <p14:sldId id="727"/>
            <p14:sldId id="798"/>
            <p14:sldId id="800"/>
            <p14:sldId id="801"/>
            <p14:sldId id="802"/>
            <p14:sldId id="737"/>
            <p14:sldId id="6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  <a:srgbClr val="3333FF"/>
    <a:srgbClr val="3399FF"/>
    <a:srgbClr val="CCECFF"/>
    <a:srgbClr val="F878BB"/>
    <a:srgbClr val="E0932C"/>
    <a:srgbClr val="F268EB"/>
    <a:srgbClr val="E56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80" autoAdjust="0"/>
    <p:restoredTop sz="59854" autoAdjust="0"/>
  </p:normalViewPr>
  <p:slideViewPr>
    <p:cSldViewPr>
      <p:cViewPr varScale="1">
        <p:scale>
          <a:sx n="71" d="100"/>
          <a:sy n="71" d="100"/>
        </p:scale>
        <p:origin x="-1548" y="-96"/>
      </p:cViewPr>
      <p:guideLst>
        <p:guide orient="horz" pos="73"/>
        <p:guide pos="2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10" y="-84"/>
      </p:cViewPr>
      <p:guideLst>
        <p:guide orient="horz" pos="2880"/>
        <p:guide pos="212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35A5DA-2D7C-42B2-B104-1067744C857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E698CAE-EE2B-46BF-AE5F-F5ADF090DB27}" type="slidenum">
              <a:rPr lang="en-US" altLang="zh-CN"/>
            </a:fld>
            <a:endParaRPr lang="en-US" altLang="zh-CN"/>
          </a:p>
        </p:txBody>
      </p:sp>
      <p:sp>
        <p:nvSpPr>
          <p:cNvPr id="13" name="备注占位符 1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4" name="幻灯片图像占位符 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Java</a:t>
            </a:r>
            <a:r>
              <a:rPr lang="zh-CN" altLang="en-US"/>
              <a:t>卡</a:t>
            </a:r>
            <a:r>
              <a:rPr lang="en-US" altLang="zh-CN"/>
              <a:t>API</a:t>
            </a:r>
            <a:r>
              <a:rPr lang="zh-CN" altLang="en-US"/>
              <a:t>中的函数介绍</a:t>
            </a:r>
            <a:endParaRPr lang="zh-CN" altLang="en-US"/>
          </a:p>
        </p:txBody>
      </p:sp>
      <p:sp>
        <p:nvSpPr>
          <p:cNvPr id="3" name="幻灯片图像占位符 2"/>
          <p:cNvSpPr/>
          <p:nvPr>
            <p:ph type="sldImg" idx="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幻灯片图像占位符 2"/>
          <p:cNvSpPr/>
          <p:nvPr>
            <p:ph type="sldImg" idx="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幻灯片图像占位符 2"/>
          <p:cNvSpPr/>
          <p:nvPr>
            <p:ph type="sldImg" idx="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幻灯片图像占位符 2"/>
          <p:cNvSpPr/>
          <p:nvPr>
            <p:ph type="sldImg" idx="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幻灯片图像占位符 2"/>
          <p:cNvSpPr/>
          <p:nvPr>
            <p:ph type="sldImg" idx="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0" y="6740525"/>
            <a:ext cx="9144000" cy="11747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r">
              <a:defRPr/>
            </a:pPr>
            <a:endParaRPr lang="zh-CN" altLang="zh-CN" sz="1600" b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Picture 14" descr="gdu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400675" y="260350"/>
            <a:ext cx="971550" cy="95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5" descr="18x6户外-新"/>
          <p:cNvPicPr>
            <a:picLocks noChangeAspect="1" noChangeArrowheads="1"/>
          </p:cNvPicPr>
          <p:nvPr userDrawn="1"/>
        </p:nvPicPr>
        <p:blipFill>
          <a:blip r:embed="rId3"/>
          <a:srcRect l="67012" b="87825"/>
          <a:stretch>
            <a:fillRect/>
          </a:stretch>
        </p:blipFill>
        <p:spPr bwMode="auto">
          <a:xfrm>
            <a:off x="358775" y="1233488"/>
            <a:ext cx="8318500" cy="8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075113" y="333375"/>
            <a:ext cx="998537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7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700338" y="277813"/>
            <a:ext cx="963612" cy="955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8AB30DF8-81F7-4080-A390-5DB09EF199DF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3FE44C1-8B84-4C4B-99A4-8D1A24E10902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8B1577-3DEF-4017-9161-B8BC4E1CDC1E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B363FE-821A-462C-B2D8-F2188A603E16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400122BD-ACB6-4040-B68F-943EBC4E07E3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CE1780D-B665-43E7-8B6C-520F3AC20835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ED63560-FEB2-4EFB-B7D6-0F274E4ED5BA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E7D11D2-8997-4BC3-A257-CE4E58AA6F93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9C327A50-5592-4B4B-BEE5-497B920E5192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10E39F-0733-4626-BA8D-BD4D3E565B1E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442325" y="6403975"/>
            <a:ext cx="701675" cy="457200"/>
          </a:xfr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0EBF7E-A8C9-459F-8D2C-B0F53A4573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A56D1-363B-473F-9ABD-CFE4823C8D9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01013" y="616585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BEAF7-B96A-4FAC-8273-C25879A174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0AF8-B4D5-421A-A596-D00A1ADAFD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831F4-5047-48EC-9323-FDFC5AAC7C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4AA93-8072-4AF9-A244-F8C9C2B5A1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F3AD2-8503-4CC6-8DA1-7F7BC610F4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圆角矩形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AF958-575B-464F-87F9-99E22E4B36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490FB-4128-4615-AB2F-96392C0808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2144-4A70-436F-938E-8C7F21BFD8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12A23-E3E1-4596-BA30-350B99A8AC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6.jpeg"/><Relationship Id="rId13" Type="http://schemas.openxmlformats.org/officeDocument/2006/relationships/image" Target="../media/image3.png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81763"/>
            <a:ext cx="684212" cy="331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600" b="0">
                <a:solidFill>
                  <a:schemeClr val="tx1"/>
                </a:solidFill>
                <a:effectLst/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5D72E950-4C2E-41B0-A6DF-ACE83D3AE20D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1763713" y="404813"/>
            <a:ext cx="7380287" cy="71437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="b"/>
          <a:lstStyle/>
          <a:p>
            <a:pPr algn="r">
              <a:defRPr/>
            </a:pP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2009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年度</a:t>
            </a: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NSFC-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广东联合基金重点项目</a:t>
            </a:r>
            <a:endParaRPr lang="zh-CN" altLang="en-US" b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MingLiU" panose="02020509000000000000" pitchFamily="49" charset="-120"/>
              <a:ea typeface="MingLiU" panose="02020509000000000000" pitchFamily="49" charset="-120"/>
              <a:cs typeface="经典繁粗仿" pitchFamily="49" charset="-122"/>
            </a:endParaRPr>
          </a:p>
        </p:txBody>
      </p:sp>
      <p:pic>
        <p:nvPicPr>
          <p:cNvPr id="1028" name="Picture 15" descr="gdut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260475" y="7938"/>
            <a:ext cx="611188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50875" y="28575"/>
            <a:ext cx="6492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2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2388" y="31750"/>
            <a:ext cx="595312" cy="588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标题占位符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2053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9D73057C-6982-4A51-BD18-32EB102C994D}" type="datetimeFigureOut">
              <a:rPr lang="en-US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493CEBFE-ABF7-4B27-939B-08E9B3E2F7C1}" type="slidenum">
              <a:rPr lang="en-US" altLang="zh-CN"/>
            </a:fld>
            <a:r>
              <a:rPr lang="en-US" altLang="zh-CN"/>
              <a:t>-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  <a:ea typeface="幼圆" panose="02010509060101010101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4"/>
          <p:cNvSpPr>
            <a:spLocks noGrp="1"/>
          </p:cNvSpPr>
          <p:nvPr>
            <p:ph type="ctrTitle"/>
          </p:nvPr>
        </p:nvSpPr>
        <p:spPr>
          <a:xfrm>
            <a:off x="518864" y="1526927"/>
            <a:ext cx="8229600" cy="1470025"/>
          </a:xfrm>
        </p:spPr>
        <p:txBody>
          <a:bodyPr/>
          <a:lstStyle/>
          <a:p>
            <a:pPr eaLnBrk="1" hangingPunct="1"/>
            <a:r>
              <a:rPr lang="zh-CN" altLang="en-US" sz="6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电子钱包的安全管理</a:t>
            </a:r>
            <a:endParaRPr lang="zh-CN" altLang="en-US" sz="6000" b="1" dirty="0" smtClean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5603" name="矩形 7"/>
          <p:cNvSpPr>
            <a:spLocks noChangeArrowheads="1"/>
          </p:cNvSpPr>
          <p:nvPr/>
        </p:nvSpPr>
        <p:spPr bwMode="auto">
          <a:xfrm>
            <a:off x="3815917" y="4905164"/>
            <a:ext cx="5184576" cy="1231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董涛涛 商家煜 王鲸寓</a:t>
            </a:r>
            <a:endParaRPr lang="zh-CN" sz="280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2017.4.01-07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电子钱包 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安全管理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电子钱包 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安全管理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195736" y="232047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电子钱包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电子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钱包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是小额支付的智能储值卡，需要持卡人预先在卡内存入一定金额，交易时直接从账户中扣除交易金额。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电子钱包支持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圈存、消费、余额查询等交易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92996"/>
            <a:ext cx="3009317" cy="229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392996"/>
            <a:ext cx="3183981" cy="229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电子钱包 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安全管理</a:t>
            </a:r>
            <a:endParaRPr lang="en-US" altLang="zh-CN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352114"/>
            <a:ext cx="68680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安全管理器主要工作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对传送来的信息进行安全性的检验或处理。主要完成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的生成和验证，其涉及到随机数的产生和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</a:rPr>
              <a:t>数据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加解密运算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5122" name="Picture 2" descr="C:\Users\Administrator\Desktop\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08" y="3933056"/>
            <a:ext cx="5479652" cy="166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352114"/>
            <a:ext cx="68680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在电子钱包中，使用的安全管理包括三个方面：</a:t>
            </a:r>
            <a:endParaRPr lang="zh-CN" altLang="en-US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过程密钥的生成</a:t>
            </a:r>
            <a:endParaRPr lang="zh-CN" altLang="en-US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	过程密钥是由指定密钥对可变数据加密产生的单倍长密钥。过程密钥产生后只能在某一（消费、圈存等）过程中有效。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消息验证码MAC的生成</a:t>
            </a:r>
            <a:endParaRPr lang="zh-CN" altLang="en-US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593725" lvl="2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6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	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MAC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是报文鉴别码，是终端和卡片之间的身份认证。在交易过程中，通过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MAC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码可以保证消息的完整性。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交易验证码TAC的生成</a:t>
            </a:r>
            <a:endParaRPr lang="zh-CN" altLang="en-US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	TAC 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是交易验证码，是作为交易的一个有效凭证。</a:t>
            </a:r>
            <a:endParaRPr lang="zh-CN" altLang="en-US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318457" y="260647"/>
            <a:ext cx="468052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432435" y="1340485"/>
            <a:ext cx="363728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过程密钥的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生成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过程密钥是在交易过程中用可变数据产生的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字节长密钥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这里的输入数据包括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伪随机数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电子钱包联机交易序列号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+8000”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，子密钥指的是圈存或消费密钥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 descr="F:\毕设\设计\图片\过程密钥的生成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416" y="1340768"/>
            <a:ext cx="3888432" cy="4968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介绍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算法是一种常见的对称加密算法。所谓对称加密，即加密和解密过程所使用的密钥是相同的。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068960"/>
            <a:ext cx="6084676" cy="184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363855" y="1143000"/>
            <a:ext cx="796925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加解密运算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使用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DESKey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接口中的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setKey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函数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设置密钥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值，</a:t>
            </a:r>
            <a:r>
              <a:rPr lang="zh-CN" altLang="en-US" sz="20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其中</a:t>
            </a:r>
            <a:r>
              <a:rPr lang="en-US" altLang="zh-CN" sz="20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akey</a:t>
            </a:r>
            <a:r>
              <a:rPr lang="zh-CN" altLang="en-US" sz="20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是密钥，</a:t>
            </a:r>
            <a:r>
              <a:rPr lang="en-US" altLang="zh-CN" sz="20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kOff</a:t>
            </a:r>
            <a:r>
              <a:rPr lang="zh-CN" altLang="en-US" sz="20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是密钥的偏移量。</a:t>
            </a:r>
            <a:endParaRPr lang="zh-CN" altLang="en-US" sz="200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00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Cipher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类中的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init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函数来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设置加密对象实例，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mode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是加解密模式（Cipher.MODE_ENCRYPT或Cipher.MODE_DECRYPT）</a:t>
            </a:r>
            <a:endParaRPr lang="zh-CN" altLang="en-US" sz="2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00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Cipher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类中的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doFinal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函数来完成运算，其中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data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dOff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分别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是加密数据和偏移量，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dLen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是数据长度，r和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rOff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分别是加密后的数据和偏移量。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216" y="4163261"/>
            <a:ext cx="3443234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115" y="6049645"/>
            <a:ext cx="6541135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572" y="2710737"/>
            <a:ext cx="5533246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计算中使用到的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desEngine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deskey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，需要先进行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Font typeface="Wingdings" panose="05000000000000000000" pitchFamily="2" charset="2"/>
              <a:buNone/>
            </a:pP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Cipher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类中的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getInstance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函数来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获得加密实例</a:t>
            </a:r>
            <a:endParaRPr lang="zh-CN" altLang="en-US" sz="20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使用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KeyBuilder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中的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buildKey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方法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生成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DES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密钥实例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" y="4610735"/>
            <a:ext cx="8742680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11" y="3277114"/>
            <a:ext cx="7176527" cy="54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700" y="1376680"/>
            <a:ext cx="352933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3DES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介绍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3DES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算法使用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DES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加解密算法对数据进行计算。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对输入数据先加密，再解密，再加密，具有更高的安全性。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注意的是，子密钥是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字节的，因此左右半部分均是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字节的。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 descr="F:\毕设\设计\图片\过程密钥的生成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420" y="1605915"/>
            <a:ext cx="3442970" cy="46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069721" y="260648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4"/>
          <p:cNvSpPr>
            <a:spLocks noGrp="1"/>
          </p:cNvSpPr>
          <p:nvPr>
            <p:ph sz="quarter" idx="1"/>
          </p:nvPr>
        </p:nvSpPr>
        <p:spPr>
          <a:xfrm>
            <a:off x="611560" y="1124744"/>
            <a:ext cx="8388932" cy="543660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的生成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需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使用过程密钥来计算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，计算方法相同，但是输入的数据不同，具体过程如下：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将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初始值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设定为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个字节长的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16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进制数（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0x 00 00 00 00 00 00 00 00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r>
              <a:rPr lang="zh-CN" altLang="zh-CN" sz="18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lt"/>
              <a:buAutoNum type="arabicPeriod"/>
            </a:pPr>
            <a:endParaRPr lang="zh-CN" altLang="zh-CN" sz="1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数据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填充</a:t>
            </a:r>
            <a:r>
              <a:rPr lang="zh-CN" altLang="en-US" sz="18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zh-CN" altLang="zh-CN" sz="18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输入的数据尾部填入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0x80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，检查数据的字节数是否为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的倍数。如果不足，则在尾部添加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0x00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，直至满足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的倍数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</a:rPr>
              <a:t>为止。</a:t>
            </a:r>
            <a:endParaRPr lang="zh-CN" altLang="zh-CN" sz="1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lt"/>
              <a:buAutoNum type="arabicPeriod"/>
            </a:pPr>
            <a:endParaRPr lang="zh-CN" altLang="zh-CN" sz="1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将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这些数据分割为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8</a:t>
            </a:r>
            <a:r>
              <a:rPr lang="zh-CN" altLang="zh-CN" sz="18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字节长的数据块组。</a:t>
            </a:r>
            <a:endParaRPr lang="zh-CN" altLang="zh-CN" sz="1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lvl="1" indent="0">
              <a:lnSpc>
                <a:spcPct val="150000"/>
              </a:lnSpc>
              <a:buFont typeface="+mj-lt"/>
              <a:buNone/>
            </a:pPr>
            <a:endParaRPr lang="zh-CN" altLang="zh-CN" sz="1655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lvl="0" indent="0">
              <a:lnSpc>
                <a:spcPct val="150000"/>
              </a:lnSpc>
              <a:buFont typeface="+mj-lt"/>
              <a:buNone/>
            </a:pPr>
            <a:r>
              <a:rPr lang="zh-CN" altLang="en-US" sz="1795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注意，计算</a:t>
            </a:r>
            <a:r>
              <a:rPr lang="en-US" altLang="zh-CN" sz="1795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1795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和计算</a:t>
            </a:r>
            <a:r>
              <a:rPr lang="en-US" altLang="zh-CN" sz="1795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sz="1795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的输入数据不同，具体见</a:t>
            </a:r>
            <a:r>
              <a:rPr lang="zh-CN" altLang="en-US" sz="1795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实验文档</a:t>
            </a:r>
            <a:r>
              <a:rPr lang="en-US" altLang="zh-CN" sz="1795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endParaRPr lang="en-US" altLang="zh-CN" sz="1795" b="1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sz="1795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069721" y="260648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4"/>
          <p:cNvSpPr>
            <a:spLocks noGrp="1"/>
          </p:cNvSpPr>
          <p:nvPr>
            <p:ph sz="quarter" idx="1"/>
          </p:nvPr>
        </p:nvSpPr>
        <p:spPr>
          <a:xfrm>
            <a:off x="611560" y="1124744"/>
            <a:ext cx="8028892" cy="54366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的生成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如图所示</a:t>
            </a:r>
            <a:endParaRPr lang="zh-CN" altLang="en-US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图片 8" descr="F:\毕设\设计\图片\MAC和TAC的生成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72" y="2264393"/>
            <a:ext cx="8244916" cy="3665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随机数的产生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getInstance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函数来获得随机数类的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实例</a:t>
            </a: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generateData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函数生成随机数</a:t>
            </a:r>
            <a:endParaRPr lang="en-US" altLang="zh-CN" sz="2200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36" y="2661026"/>
            <a:ext cx="7868874" cy="40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410" y="4084129"/>
            <a:ext cx="4600526" cy="48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测试方法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卡</a:t>
            </a:r>
            <a:r>
              <a:rPr lang="en-US" altLang="zh-CN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开发中，使用</a:t>
            </a:r>
            <a:r>
              <a:rPr lang="en-US" altLang="zh-CN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语言，但是无法使用</a:t>
            </a:r>
            <a:r>
              <a:rPr lang="en-US" altLang="zh-CN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System.out.print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来打印结果。</a:t>
            </a: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在测试时，举个例子，要测试</a:t>
            </a:r>
            <a:r>
              <a:rPr lang="zh-CN" altLang="en-US" sz="2215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过程密钥值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的正确性，那么可以通过</a:t>
            </a:r>
            <a:r>
              <a:rPr lang="zh-CN" altLang="en-US" sz="2215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设计一个指令</a:t>
            </a: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（可自定义），该指令带的数据是计算过程密钥的需要的输入数据和密钥，计算后，通过响应报文的数据域来返回计算结果。</a:t>
            </a: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15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使用提供的软件Des.exe，输入数据和密钥，可以验证程序计算结果的准确性。</a:t>
            </a: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50514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0311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81100" y="1831975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计算过程密钥命令报文</a:t>
            </a:r>
            <a:endParaRPr lang="zh-CN" altLang="en-US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04950" y="2513965"/>
          <a:ext cx="7019290" cy="18408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955"/>
                <a:gridCol w="1462405"/>
                <a:gridCol w="4519930"/>
              </a:tblGrid>
              <a:tr h="203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CLA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INS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P1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P2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86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Lc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0x18(24)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3835">
                <a:tc row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Data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密钥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输入的数据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Le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08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04950" y="5215890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响应报文数据域</a:t>
            </a:r>
            <a:endParaRPr lang="zh-CN" altLang="en-US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504950" y="5948680"/>
          <a:ext cx="6188710" cy="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430"/>
                <a:gridCol w="4525645"/>
              </a:tblGrid>
              <a:tr h="1524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长度（字节）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过程密钥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50514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0311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81100" y="1831975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计算过程密钥命令报文</a:t>
            </a:r>
            <a:endParaRPr lang="zh-CN" altLang="en-US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04950" y="2513965"/>
          <a:ext cx="7019290" cy="18408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955"/>
                <a:gridCol w="1462405"/>
                <a:gridCol w="4519930"/>
              </a:tblGrid>
              <a:tr h="203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CLA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INS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P1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P2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86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Lc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0x18(24)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3835">
                <a:tc row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Data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密钥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输入的数据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1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Le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08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81100" y="5173980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响应报文数据域</a:t>
            </a:r>
            <a:endParaRPr lang="zh-CN" altLang="en-US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504950" y="5948680"/>
          <a:ext cx="6188710" cy="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430"/>
                <a:gridCol w="4525645"/>
              </a:tblGrid>
              <a:tr h="1524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长度（字节）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过程密钥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50514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0311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215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81100" y="1831975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</a:t>
            </a:r>
            <a:r>
              <a:rPr lang="en-US" altLang="zh-CN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MAC</a:t>
            </a:r>
            <a:endParaRPr lang="en-US" altLang="zh-CN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1100" y="5188585"/>
            <a:ext cx="5080000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48005" lvl="1" indent="-228600" algn="l" eaLnBrk="0" hangingPunct="0">
              <a:lnSpc>
                <a:spcPct val="150000"/>
              </a:lnSpc>
              <a:spcBef>
                <a:spcPts val="375"/>
              </a:spcBef>
              <a:buClr>
                <a:schemeClr val="accent2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215" b="0" u="none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响应报文数据域</a:t>
            </a:r>
            <a:endParaRPr lang="zh-CN" altLang="en-US" sz="2215" b="0" u="none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0" name="表格 -1"/>
          <p:cNvGraphicFramePr/>
          <p:nvPr/>
        </p:nvGraphicFramePr>
        <p:xfrm>
          <a:off x="1504633" y="2527300"/>
          <a:ext cx="6188075" cy="1443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/>
                <a:gridCol w="1289050"/>
                <a:gridCol w="3984625"/>
              </a:tblGrid>
              <a:tr h="2165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CLA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INS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P1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P2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Lc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0x09 ~ n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row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Data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密钥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输入的数据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1~n</a:t>
                      </a:r>
                      <a:r>
                        <a:rPr lang="zh-CN" altLang="en-US" sz="1800" b="0" u="none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个字节</a:t>
                      </a:r>
                      <a:endParaRPr lang="zh-CN" altLang="en-US" sz="1800" b="0" u="none">
                        <a:solidFill>
                          <a:srgbClr val="444444"/>
                        </a:solidFill>
                        <a:highlight>
                          <a:srgbClr val="FF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Le</a:t>
                      </a:r>
                      <a:endParaRPr lang="en-US" altLang="zh-CN" sz="18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04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745933" y="5905500"/>
          <a:ext cx="6188710" cy="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113"/>
                <a:gridCol w="4525962"/>
              </a:tblGrid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长度（字节）</a:t>
                      </a:r>
                      <a:endParaRPr lang="zh-CN" altLang="en-US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MAC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zh-CN" sz="18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789305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完成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PenCiper.java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中的两个函数，分别是计算过程密钥和计算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通过测试，如读取计算后的密钥或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MAC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值，检验是否正确；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608" y="0"/>
            <a:ext cx="10844055" cy="6861175"/>
          </a:xfrm>
          <a:prstGeom prst="rect">
            <a:avLst/>
          </a:prstGeom>
        </p:spPr>
      </p:pic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ln>
            <a:miter lim="800000"/>
          </a:ln>
        </p:spPr>
        <p:txBody>
          <a:bodyPr wrap="square" lIns="91440" tIns="45720" rIns="91440" bIns="45720" anchorCtr="0"/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C8E3AA71-A26B-4DEC-97FE-63A87B34C4D4}" type="slidenum">
              <a:rPr lang="en-US" altLang="zh-CN" sz="1400">
                <a:solidFill>
                  <a:schemeClr val="tx2"/>
                </a:solidFill>
              </a:rPr>
            </a:fld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358080" y="173509"/>
            <a:ext cx="8534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accent1"/>
                </a:solidFill>
                <a:ea typeface="隶书" panose="02010509060101010101" pitchFamily="49" charset="-122"/>
              </a:rPr>
              <a:t>迷人风景只有站在一定高度才能领略，望诸君努力，谢谢！</a:t>
            </a:r>
            <a:endParaRPr lang="zh-CN" altLang="en-US" sz="4000" dirty="0">
              <a:solidFill>
                <a:schemeClr val="accent1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WPS 演示</Application>
  <PresentationFormat>全屏显示(4:3)</PresentationFormat>
  <Paragraphs>389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黑体</vt:lpstr>
      <vt:lpstr>MingLiU</vt:lpstr>
      <vt:lpstr>经典繁粗仿</vt:lpstr>
      <vt:lpstr>Times New Roman</vt:lpstr>
      <vt:lpstr>Franklin Gothic Book</vt:lpstr>
      <vt:lpstr>幼圆</vt:lpstr>
      <vt:lpstr>Wingdings 2</vt:lpstr>
      <vt:lpstr>楷体</vt:lpstr>
      <vt:lpstr>微软雅黑</vt:lpstr>
      <vt:lpstr>Wingdings</vt:lpstr>
      <vt:lpstr>Calibri</vt:lpstr>
      <vt:lpstr>隶书</vt:lpstr>
      <vt:lpstr>PMingLiU-ExtB</vt:lpstr>
      <vt:lpstr>自定义设计方案</vt:lpstr>
      <vt:lpstr>平衡</vt:lpstr>
      <vt:lpstr>电子钱包的安全管理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任务</vt:lpstr>
      <vt:lpstr>PowerPoint 演示文稿</vt:lpstr>
    </vt:vector>
  </TitlesOfParts>
  <Company>中山大学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信息服务的RFID理论与技术研究</dc:title>
  <dc:creator>Administrator</dc:creator>
  <cp:lastModifiedBy>ASUS</cp:lastModifiedBy>
  <cp:revision>2764</cp:revision>
  <dcterms:created xsi:type="dcterms:W3CDTF">2005-10-18T02:59:00Z</dcterms:created>
  <dcterms:modified xsi:type="dcterms:W3CDTF">2017-03-28T13:54:16Z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