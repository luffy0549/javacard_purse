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0" r:id="rId2"/>
  </p:sldMasterIdLst>
  <p:notesMasterIdLst>
    <p:notesMasterId r:id="rId31"/>
  </p:notesMasterIdLst>
  <p:handoutMasterIdLst>
    <p:handoutMasterId r:id="rId32"/>
  </p:handoutMasterIdLst>
  <p:sldIdLst>
    <p:sldId id="695" r:id="rId3"/>
    <p:sldId id="696" r:id="rId4"/>
    <p:sldId id="779" r:id="rId5"/>
    <p:sldId id="718" r:id="rId6"/>
    <p:sldId id="720" r:id="rId7"/>
    <p:sldId id="721" r:id="rId8"/>
    <p:sldId id="724" r:id="rId9"/>
    <p:sldId id="723" r:id="rId10"/>
    <p:sldId id="738" r:id="rId11"/>
    <p:sldId id="731" r:id="rId12"/>
    <p:sldId id="728" r:id="rId13"/>
    <p:sldId id="730" r:id="rId14"/>
    <p:sldId id="739" r:id="rId15"/>
    <p:sldId id="719" r:id="rId16"/>
    <p:sldId id="781" r:id="rId17"/>
    <p:sldId id="782" r:id="rId18"/>
    <p:sldId id="783" r:id="rId19"/>
    <p:sldId id="784" r:id="rId20"/>
    <p:sldId id="740" r:id="rId21"/>
    <p:sldId id="732" r:id="rId22"/>
    <p:sldId id="733" r:id="rId23"/>
    <p:sldId id="741" r:id="rId24"/>
    <p:sldId id="734" r:id="rId25"/>
    <p:sldId id="742" r:id="rId26"/>
    <p:sldId id="745" r:id="rId27"/>
    <p:sldId id="747" r:id="rId28"/>
    <p:sldId id="744" r:id="rId29"/>
    <p:sldId id="668" r:id="rId3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默认节" id="{6E831EF1-D89C-46CC-AAE6-304415D5BB7C}">
          <p14:sldIdLst>
            <p14:sldId id="696"/>
            <p14:sldId id="718"/>
            <p14:sldId id="720"/>
            <p14:sldId id="721"/>
            <p14:sldId id="724"/>
            <p14:sldId id="723"/>
            <p14:sldId id="738"/>
            <p14:sldId id="728"/>
            <p14:sldId id="730"/>
            <p14:sldId id="739"/>
            <p14:sldId id="719"/>
            <p14:sldId id="783"/>
            <p14:sldId id="784"/>
            <p14:sldId id="740"/>
            <p14:sldId id="733"/>
            <p14:sldId id="734"/>
            <p14:sldId id="742"/>
            <p14:sldId id="745"/>
            <p14:sldId id="747"/>
            <p14:sldId id="744"/>
            <p14:sldId id="668"/>
            <p14:sldId id="695"/>
            <p14:sldId id="731"/>
            <p14:sldId id="781"/>
            <p14:sldId id="782"/>
            <p14:sldId id="779"/>
            <p14:sldId id="732"/>
            <p14:sldId id="74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E0000"/>
    <a:srgbClr val="3333FF"/>
    <a:srgbClr val="3399FF"/>
    <a:srgbClr val="CCECFF"/>
    <a:srgbClr val="F878BB"/>
    <a:srgbClr val="E0932C"/>
    <a:srgbClr val="F268EB"/>
    <a:srgbClr val="E56D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6357" autoAdjust="0"/>
    <p:restoredTop sz="91344" autoAdjust="0"/>
  </p:normalViewPr>
  <p:slideViewPr>
    <p:cSldViewPr>
      <p:cViewPr>
        <p:scale>
          <a:sx n="66" d="100"/>
          <a:sy n="66" d="100"/>
        </p:scale>
        <p:origin x="-992" y="-48"/>
      </p:cViewPr>
      <p:guideLst>
        <p:guide orient="horz" pos="7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910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B35A5DA-2D7C-42B2-B104-1067744C85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E698CAE-EE2B-46BF-AE5F-F5ADF090DB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3" name="备注占位符 1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14" name="幻灯片图像占位符 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例如使用</a:t>
            </a:r>
            <a:r>
              <a:rPr lang="en-US" altLang="zh-CN" dirty="0"/>
              <a:t>switch case</a:t>
            </a:r>
            <a:r>
              <a:rPr lang="zh-CN" altLang="en-US" dirty="0"/>
              <a:t>对命令进行判断，针对不同的</a:t>
            </a:r>
            <a:r>
              <a:rPr lang="en-US" altLang="zh-CN" dirty="0"/>
              <a:t>ins</a:t>
            </a:r>
            <a:r>
              <a:rPr lang="zh-CN" altLang="en-US" dirty="0"/>
              <a:t>执行不同的操作。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698CAE-EE2B-46BF-AE5F-F5ADF090DB2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一条密钥记录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= </a:t>
            </a:r>
            <a:r>
              <a:rPr lang="zh-CN" altLang="en-US" baseline="0" dirty="0" smtClean="0"/>
              <a:t>标识</a:t>
            </a:r>
            <a:r>
              <a:rPr lang="en-US" altLang="zh-CN" baseline="0" dirty="0" smtClean="0"/>
              <a:t>(T)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+ </a:t>
            </a:r>
            <a:r>
              <a:rPr lang="zh-CN" altLang="en-US" baseline="0" dirty="0" smtClean="0"/>
              <a:t>长度</a:t>
            </a:r>
            <a:r>
              <a:rPr lang="en-US" altLang="zh-CN" baseline="0" dirty="0" smtClean="0"/>
              <a:t>(L) + </a:t>
            </a:r>
            <a:r>
              <a:rPr lang="zh-CN" altLang="en-US" baseline="0" dirty="0" smtClean="0"/>
              <a:t>密钥（</a:t>
            </a:r>
            <a:r>
              <a:rPr lang="en-US" altLang="zh-CN" baseline="0" dirty="0" smtClean="0"/>
              <a:t>V</a:t>
            </a:r>
            <a:r>
              <a:rPr lang="zh-CN" altLang="en-US" baseline="0" dirty="0" smtClean="0"/>
              <a:t>） </a:t>
            </a:r>
            <a:endParaRPr lang="en-US" altLang="zh-CN" baseline="0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aseline="0" dirty="0" smtClean="0"/>
              <a:t>密钥 </a:t>
            </a:r>
            <a:r>
              <a:rPr lang="en-US" altLang="zh-CN" baseline="0" dirty="0" smtClean="0"/>
              <a:t>=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密钥头（密钥类型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使用权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更改权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密钥版本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算法标识）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密钥值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698CAE-EE2B-46BF-AE5F-F5ADF090DB2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文档</a:t>
            </a:r>
            <a:r>
              <a:rPr lang="en-US" altLang="zh-CN"/>
              <a:t>2 </a:t>
            </a:r>
            <a:r>
              <a:rPr lang="zh-CN" altLang="en-US"/>
              <a:t>的内容在课堂上讲解，不给文档。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698CAE-EE2B-46BF-AE5F-F5ADF090DB27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698CAE-EE2B-46BF-AE5F-F5ADF090DB2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 userDrawn="1"/>
        </p:nvSpPr>
        <p:spPr bwMode="auto">
          <a:xfrm>
            <a:off x="0" y="6740525"/>
            <a:ext cx="9144000" cy="11747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r">
              <a:defRPr/>
            </a:pPr>
            <a:endParaRPr lang="zh-CN" altLang="zh-CN" sz="1600" b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Picture 14" descr="gdut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400675" y="260350"/>
            <a:ext cx="971550" cy="95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5" descr="18x6户外-新"/>
          <p:cNvPicPr>
            <a:picLocks noChangeAspect="1" noChangeArrowheads="1"/>
          </p:cNvPicPr>
          <p:nvPr userDrawn="1"/>
        </p:nvPicPr>
        <p:blipFill>
          <a:blip r:embed="rId3"/>
          <a:srcRect l="67012" b="87825"/>
          <a:stretch>
            <a:fillRect/>
          </a:stretch>
        </p:blipFill>
        <p:spPr bwMode="auto">
          <a:xfrm>
            <a:off x="358775" y="1233488"/>
            <a:ext cx="8318500" cy="84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4075113" y="333375"/>
            <a:ext cx="998537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7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2700338" y="277813"/>
            <a:ext cx="963612" cy="955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8AB30DF8-81F7-4080-A390-5DB09EF199DF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53FE44C1-8B84-4C4B-99A4-8D1A24E10902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28B1577-3DEF-4017-9161-B8BC4E1CDC1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2B363FE-821A-462C-B2D8-F2188A603E16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400122BD-ACB6-4040-B68F-943EBC4E07E3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7CE1780D-B665-43E7-8B6C-520F3AC20835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ED63560-FEB2-4EFB-B7D6-0F274E4ED5BA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3E7D11D2-8997-4BC3-A257-CE4E58AA6F93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9C327A50-5592-4B4B-BEE5-497B920E5192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6410E39F-0733-4626-BA8D-BD4D3E565B1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442325" y="6403975"/>
            <a:ext cx="701675" cy="457200"/>
          </a:xfr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0EBF7E-A8C9-459F-8D2C-B0F53A4573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A56D1-363B-473F-9ABD-CFE4823C8D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101013" y="616585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BEAF7-B96A-4FAC-8273-C25879A174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50AF8-B4D5-421A-A596-D00A1ADAFD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831F4-5047-48EC-9323-FDFC5AAC7C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4AA93-8072-4AF9-A244-F8C9C2B5A1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F3AD2-8503-4CC6-8DA1-7F7BC610F4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圆角矩形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AF958-575B-464F-87F9-99E22E4B36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490FB-4128-4615-AB2F-96392C0808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B2144-4A70-436F-938E-8C7F21BFD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12A23-E3E1-4596-BA30-350B99A8AC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9788" y="6481763"/>
            <a:ext cx="684212" cy="3317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600" b="0">
                <a:solidFill>
                  <a:schemeClr val="tx1"/>
                </a:solidFill>
                <a:effectLst/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5D72E950-4C2E-41B0-A6DF-ACE83D3AE20D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  <p:sp>
        <p:nvSpPr>
          <p:cNvPr id="114695" name="Rectangle 7"/>
          <p:cNvSpPr>
            <a:spLocks noChangeArrowheads="1"/>
          </p:cNvSpPr>
          <p:nvPr/>
        </p:nvSpPr>
        <p:spPr bwMode="auto">
          <a:xfrm>
            <a:off x="1763713" y="404813"/>
            <a:ext cx="7380287" cy="71437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</a:ln>
          <a:effectLst/>
        </p:spPr>
        <p:txBody>
          <a:bodyPr wrap="none" anchor="b"/>
          <a:lstStyle/>
          <a:p>
            <a:pPr algn="r">
              <a:defRPr/>
            </a:pPr>
            <a:r>
              <a:rPr lang="en-US" altLang="zh-CN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2009</a:t>
            </a:r>
            <a:r>
              <a:rPr lang="zh-CN" altLang="en-US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年度</a:t>
            </a:r>
            <a:r>
              <a:rPr lang="en-US" altLang="zh-CN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NSFC-</a:t>
            </a:r>
            <a:r>
              <a:rPr lang="zh-CN" altLang="en-US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广东联合基金重点项目</a:t>
            </a:r>
          </a:p>
        </p:txBody>
      </p:sp>
      <p:pic>
        <p:nvPicPr>
          <p:cNvPr id="1028" name="Picture 15" descr="gdut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1260475" y="7938"/>
            <a:ext cx="611188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2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50875" y="28575"/>
            <a:ext cx="6492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22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52388" y="31750"/>
            <a:ext cx="595312" cy="588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2" name="标题占位符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9144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2053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9D73057C-6982-4A51-BD18-32EB102C994D}" type="datetimeFigureOut">
              <a:rPr lang="en-US"/>
              <a:pPr>
                <a:defRPr/>
              </a:pPr>
              <a:t>3/7/2017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493CEBFE-ABF7-4B27-939B-08E9B3E2F7C1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4"/>
          <p:cNvSpPr>
            <a:spLocks noGrp="1"/>
          </p:cNvSpPr>
          <p:nvPr>
            <p:ph type="ctrTitle"/>
          </p:nvPr>
        </p:nvSpPr>
        <p:spPr>
          <a:xfrm>
            <a:off x="518864" y="1526927"/>
            <a:ext cx="8229600" cy="1470025"/>
          </a:xfrm>
        </p:spPr>
        <p:txBody>
          <a:bodyPr/>
          <a:lstStyle/>
          <a:p>
            <a:pPr eaLnBrk="1" hangingPunct="1"/>
            <a:r>
              <a:rPr lang="zh-CN" altLang="en-US" sz="6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电子钱包的文件系统</a:t>
            </a:r>
          </a:p>
        </p:txBody>
      </p:sp>
      <p:sp>
        <p:nvSpPr>
          <p:cNvPr id="25603" name="矩形 7"/>
          <p:cNvSpPr>
            <a:spLocks noChangeArrowheads="1"/>
          </p:cNvSpPr>
          <p:nvPr/>
        </p:nvSpPr>
        <p:spPr bwMode="auto">
          <a:xfrm>
            <a:off x="3815917" y="4905164"/>
            <a:ext cx="5184576" cy="1246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5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董涛涛 商家煜 王鲸寓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0" hangingPunct="0">
              <a:lnSpc>
                <a:spcPct val="125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2017.03.20 &amp; 2017.03.24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操作系统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文件管理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操作系统</a:t>
            </a:r>
            <a:r>
              <a:rPr lang="en-US" altLang="zh-CN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文件管理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操作系统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COS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的全称是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Chip Operating System(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卡内操作系统）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COS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的四个核心部分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传送管理器</a:t>
            </a:r>
            <a:endParaRPr lang="en-US" altLang="zh-CN" sz="22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安全管理器</a:t>
            </a:r>
            <a:endParaRPr lang="en-US" altLang="zh-CN" sz="22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应用管理器</a:t>
            </a:r>
            <a:endParaRPr lang="en-US" altLang="zh-CN" sz="22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文件管理器</a:t>
            </a:r>
            <a:endParaRPr lang="en-US" altLang="zh-CN" sz="22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032539"/>
            <a:ext cx="493395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操作系统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传送管理器主要工作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17220" lvl="2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</a:rPr>
              <a:t>接收终端传送给卡片的命令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17220" lvl="2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</a:rPr>
              <a:t>发送卡片的应答数据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200" dirty="0" smtClean="0"/>
          </a:p>
        </p:txBody>
      </p:sp>
      <p:pic>
        <p:nvPicPr>
          <p:cNvPr id="2051" name="Picture 3" descr="C:\Users\Administrator\Desktop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71700" y="3501008"/>
            <a:ext cx="5164470" cy="169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操作系统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应用管理器主要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工作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对接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</a:rPr>
              <a:t>收到的每条命令中的参数进行正确性的分析和检查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200" dirty="0" smtClean="0"/>
          </a:p>
          <a:p>
            <a:pPr marL="319405" lvl="1" indent="0">
              <a:buNone/>
            </a:pPr>
            <a:endParaRPr lang="en-US" altLang="zh-CN" sz="2200" dirty="0"/>
          </a:p>
          <a:p>
            <a:pPr marL="319405" lvl="1" indent="0">
              <a:buNone/>
            </a:pPr>
            <a:endParaRPr lang="en-US" altLang="zh-CN" sz="2200" dirty="0" smtClean="0"/>
          </a:p>
          <a:p>
            <a:pPr marL="319405" lvl="1" indent="0">
              <a:buNone/>
            </a:pPr>
            <a:endParaRPr lang="en-US" altLang="zh-CN" sz="2200" dirty="0"/>
          </a:p>
          <a:p>
            <a:pPr marL="319405" lvl="1" indent="0">
              <a:buNone/>
            </a:pPr>
            <a:endParaRPr lang="en-US" altLang="zh-CN" sz="2200" dirty="0" smtClean="0"/>
          </a:p>
        </p:txBody>
      </p:sp>
      <p:pic>
        <p:nvPicPr>
          <p:cNvPr id="4098" name="Picture 2" descr="C:\Users\Administrator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42801" y="2708920"/>
            <a:ext cx="4843923" cy="161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操作系统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安全管理器主要工作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对传送来的信息进行安全性的检验或处理。主要完成</a:t>
            </a:r>
            <a:r>
              <a:rPr lang="en-US" altLang="zh-CN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MAC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的生成和验证，其涉及到随机数的产生和</a:t>
            </a:r>
            <a:r>
              <a:rPr lang="zh-CN" altLang="en-US" sz="2200" dirty="0">
                <a:latin typeface="Times New Roman" panose="02020603050405020304" pitchFamily="18" charset="0"/>
                <a:ea typeface="楷体" panose="02010609060101010101" pitchFamily="49" charset="-122"/>
              </a:rPr>
              <a:t>数据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加解密运算</a:t>
            </a:r>
            <a:endParaRPr lang="en-US" altLang="zh-CN" sz="22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200" dirty="0" smtClean="0"/>
          </a:p>
        </p:txBody>
      </p:sp>
      <p:pic>
        <p:nvPicPr>
          <p:cNvPr id="5122" name="Picture 2" descr="C:\Users\Administrator\Desktop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32708" y="3933056"/>
            <a:ext cx="5479652" cy="166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操作系统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文件管理器主要工作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实现对文件的操作和访问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2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881334"/>
            <a:ext cx="5546240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操作系统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文件管理</a:t>
            </a:r>
            <a:endParaRPr lang="en-US" altLang="zh-CN" sz="3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ea typeface="楷体" panose="02010609060101010101" pitchFamily="49" charset="-122"/>
              </a:rPr>
              <a:t>在电子钱包应用中，根据文件用途进行分类，可分为</a:t>
            </a:r>
            <a:r>
              <a:rPr lang="zh-CN" altLang="en-US" sz="2400" dirty="0" smtClean="0">
                <a:solidFill>
                  <a:srgbClr val="FF0000"/>
                </a:solidFill>
                <a:ea typeface="楷体" panose="02010609060101010101" pitchFamily="49" charset="-122"/>
              </a:rPr>
              <a:t>密钥文件</a:t>
            </a:r>
            <a:r>
              <a:rPr lang="zh-CN" altLang="en-US" sz="2400" dirty="0" smtClean="0">
                <a:ea typeface="楷体" panose="02010609060101010101" pitchFamily="49" charset="-122"/>
              </a:rPr>
              <a:t>、</a:t>
            </a:r>
            <a:r>
              <a:rPr lang="zh-CN" altLang="en-US" sz="2400" dirty="0" smtClean="0">
                <a:solidFill>
                  <a:srgbClr val="FF0000"/>
                </a:solidFill>
                <a:ea typeface="楷体" panose="02010609060101010101" pitchFamily="49" charset="-122"/>
              </a:rPr>
              <a:t>持卡人基本文件</a:t>
            </a:r>
            <a:r>
              <a:rPr lang="zh-CN" altLang="en-US" sz="2400" dirty="0">
                <a:ea typeface="楷体" panose="02010609060101010101" pitchFamily="49" charset="-122"/>
              </a:rPr>
              <a:t>以及</a:t>
            </a:r>
            <a:r>
              <a:rPr lang="zh-CN" altLang="en-US" sz="2400" dirty="0" smtClean="0">
                <a:solidFill>
                  <a:srgbClr val="FF0000"/>
                </a:solidFill>
                <a:ea typeface="楷体" panose="02010609060101010101" pitchFamily="49" charset="-122"/>
              </a:rPr>
              <a:t>应用基本文件</a:t>
            </a:r>
            <a:r>
              <a:rPr lang="zh-CN" altLang="en-US" sz="2400" dirty="0" smtClean="0">
                <a:ea typeface="楷体" panose="02010609060101010101" pitchFamily="49" charset="-122"/>
              </a:rPr>
              <a:t>。</a:t>
            </a:r>
            <a:endParaRPr lang="en-US" altLang="zh-CN" sz="2400" dirty="0" smtClean="0"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ea typeface="楷体" panose="02010609060101010101" pitchFamily="49" charset="-122"/>
              </a:rPr>
              <a:t>电子钱包文件系统如下所示</a:t>
            </a:r>
            <a:endParaRPr lang="zh-CN" altLang="en-US" sz="2400" dirty="0">
              <a:ea typeface="楷体" panose="02010609060101010101" pitchFamily="49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91580" y="3501008"/>
            <a:ext cx="7272533" cy="2542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ea typeface="楷体" panose="02010609060101010101" pitchFamily="49" charset="-122"/>
              </a:rPr>
              <a:t>文件的数据结构分类</a:t>
            </a:r>
            <a:endParaRPr lang="en-US" altLang="zh-CN" sz="2400" dirty="0" smtClean="0"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二进制文件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透明二进制文件是卡片内所有文件的基础，卡片将数据作为一个字节流来进行处理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11052" y="4119178"/>
            <a:ext cx="52578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文件管理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ea typeface="楷体" panose="02010609060101010101" pitchFamily="49" charset="-122"/>
              </a:rPr>
              <a:t>文件的数据结构分类</a:t>
            </a:r>
            <a:endParaRPr lang="en-US" altLang="zh-CN" sz="2400" dirty="0" smtClean="0"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变长记录文件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数据以记录为单位进行存储，但每个记录段的长度都不相同，通常变长记录以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TLV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Tag-Length-Value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）格式存在。在进行记录读取的过程中，以记录号或记录标识符来进行选择。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39331" y="4365104"/>
            <a:ext cx="5652628" cy="2186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操作系统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文件管理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en-US" altLang="zh-CN" sz="3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8100900" cy="50405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一般来说，将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下载到卡片上时，该卡片则是仅具备软、硬件配置的“白片”，必须在发行阶段对之个人化后才能实际应用。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“个人化”是将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密钥信息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系统应用信息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及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持卡人个人信息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写入卡片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其过程中所涉及到的命令主要包括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2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create_file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2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write_key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2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write_binary</a:t>
            </a:r>
            <a:endParaRPr lang="en-US" altLang="zh-CN" sz="2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2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read_binary</a:t>
            </a:r>
            <a:endParaRPr lang="zh-CN" altLang="en-US" sz="2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8100900" cy="50405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create_file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文件标识分别是：密钥文件</a:t>
            </a:r>
            <a:r>
              <a:rPr lang="en-US" altLang="zh-CN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“00”</a:t>
            </a: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，应用基本信息文件</a:t>
            </a:r>
            <a:r>
              <a:rPr lang="en-US" altLang="zh-CN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“16”</a:t>
            </a: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，持卡人信息文件</a:t>
            </a:r>
            <a:r>
              <a:rPr lang="en-US" altLang="zh-CN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“17”</a:t>
            </a: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，电子钱包文件</a:t>
            </a:r>
            <a:r>
              <a:rPr lang="en-US" altLang="zh-CN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“18”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文件控制信息见</a:t>
            </a:r>
            <a:r>
              <a:rPr lang="zh-CN" altLang="en-US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文档</a:t>
            </a:r>
            <a:r>
              <a:rPr lang="en-US" altLang="zh-CN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“</a:t>
            </a:r>
            <a:r>
              <a:rPr lang="zh-CN" altLang="en-US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物联网实验</a:t>
            </a:r>
            <a:r>
              <a:rPr lang="en-US" altLang="zh-CN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2”</a:t>
            </a: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sz="2000" dirty="0" err="1" smtClean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4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aphicFrame>
        <p:nvGraphicFramePr>
          <p:cNvPr id="2" name="表格 -1"/>
          <p:cNvGraphicFramePr/>
          <p:nvPr/>
        </p:nvGraphicFramePr>
        <p:xfrm>
          <a:off x="857885" y="2415540"/>
          <a:ext cx="7679690" cy="23406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7515"/>
                <a:gridCol w="5972175"/>
              </a:tblGrid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代码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值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CLA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INS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E0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P1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P2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文件标识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Lc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文件信息长度（07）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Data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文件控制信息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8100900" cy="50405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write_key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密钥是逐条写入的，</a:t>
            </a:r>
            <a:r>
              <a:rPr lang="en-US" altLang="zh-CN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P2</a:t>
            </a: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Lc</a:t>
            </a: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和</a:t>
            </a:r>
            <a:r>
              <a:rPr lang="en-US" altLang="zh-CN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Data</a:t>
            </a:r>
            <a:r>
              <a:rPr lang="zh-CN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的内容是根据密钥的不同而不同，具体见文档中密钥文件内容。</a:t>
            </a: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sz="24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70510" y="2331085"/>
          <a:ext cx="8602980" cy="2322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1450"/>
                <a:gridCol w="7161530"/>
              </a:tblGrid>
              <a:tr h="455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代码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值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CLA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INS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D4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P1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00</a:t>
                      </a:r>
                      <a:endParaRPr lang="zh-CN" altLang="en-US" sz="2000" b="0" u="none">
                        <a:latin typeface="楷体" panose="02010609060101010101" pitchFamily="49" charset="-122"/>
                        <a:ea typeface="楷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P2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密钥标识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Lc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数据域长度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Data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 u="none"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数据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8100900" cy="50405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write_binary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 dirty="0" err="1" smtClean="0">
              <a:latin typeface="Times New Roman" panose="02020603050405020304" pitchFamily="18" charset="0"/>
              <a:ea typeface="楷体" panose="02010609060101010101" pitchFamily="49" charset="-122"/>
              <a:sym typeface="+mn-ea"/>
            </a:endParaRP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err="1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该指令是用于写入持卡人文件和应用基本文件，具体数据长度和数据见文档。</a:t>
            </a:r>
          </a:p>
          <a:p>
            <a:pPr marL="0" lv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sz="24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03250" y="2281555"/>
          <a:ext cx="8145145" cy="267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7480"/>
                <a:gridCol w="6717665"/>
              </a:tblGrid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代码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值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CLA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INS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D6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P1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文件标识符（持卡人基本文件为</a:t>
                      </a: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0x17,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应用基本文件为</a:t>
                      </a: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0x16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）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P2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欲写文件的偏移量（</a:t>
                      </a: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00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）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Lc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数据域长度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Data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数据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8100900" cy="50405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read_binary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endParaRPr lang="en-US" altLang="zh-CN" sz="28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 dirty="0" err="1" smtClean="0">
              <a:latin typeface="Times New Roman" panose="02020603050405020304" pitchFamily="18" charset="0"/>
              <a:ea typeface="楷体" panose="02010609060101010101" pitchFamily="49" charset="-122"/>
              <a:sym typeface="+mn-ea"/>
            </a:endParaRP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err="1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该指令是用于写入持卡人文件和应用基本文件，具体数据长度和数据见文档。</a:t>
            </a:r>
          </a:p>
          <a:p>
            <a:pPr marL="0" lv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sz="2400" dirty="0" err="1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aphicFrame>
        <p:nvGraphicFramePr>
          <p:cNvPr id="2" name="表格 -1"/>
          <p:cNvGraphicFramePr/>
          <p:nvPr/>
        </p:nvGraphicFramePr>
        <p:xfrm>
          <a:off x="311785" y="2305685"/>
          <a:ext cx="8190865" cy="28670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815"/>
                <a:gridCol w="6369050"/>
              </a:tblGrid>
              <a:tr h="409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代码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值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CLA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INS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B0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P1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文件标识符（持卡人基本文件为</a:t>
                      </a: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0x17,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应用基本文件为</a:t>
                      </a: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0x16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）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P2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欲读文件的偏移量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Le</a:t>
                      </a:r>
                    </a:p>
                  </a:txBody>
                  <a:tcPr marL="0" marR="0" marT="0" marB="1" anchor="ctr">
                    <a:lnL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数据域长度</a:t>
                      </a: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操作系统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COS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文件管理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智能卡的个人化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en-US" altLang="zh-CN" sz="3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密钥文件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密钥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文件是存放密钥的文件，在任何情况下均不可由外界读出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每个应用只能有一个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KEY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文件，且必须最先建立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KEY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文件通常是一变长记录文件，每一条记录对应一条密钥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密钥＝密钥头（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个字节）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密钥值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zh-CN" altLang="en-US" sz="24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16047" y="3248980"/>
          <a:ext cx="7899195" cy="3490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9154"/>
                <a:gridCol w="475490"/>
                <a:gridCol w="1450872"/>
                <a:gridCol w="694378"/>
                <a:gridCol w="629303"/>
                <a:gridCol w="495456"/>
                <a:gridCol w="657403"/>
                <a:gridCol w="2997139"/>
              </a:tblGrid>
              <a:tr h="0">
                <a:tc grid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文件体（密钥）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735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标识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长度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密钥类型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使用权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更改权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密钥版本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算法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标识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密钥值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675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smtClean="0">
                          <a:effectLst/>
                        </a:rPr>
                        <a:t>06</a:t>
                      </a:r>
                      <a:endParaRPr lang="en-US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0x15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34</a:t>
                      </a:r>
                      <a:r>
                        <a:rPr lang="zh-CN" sz="1200" kern="100" dirty="0">
                          <a:effectLst/>
                        </a:rPr>
                        <a:t>（</a:t>
                      </a:r>
                      <a:r>
                        <a:rPr lang="en-US" sz="1200" kern="100" dirty="0">
                          <a:effectLst/>
                        </a:rPr>
                        <a:t>TAC</a:t>
                      </a:r>
                      <a:r>
                        <a:rPr lang="zh-CN" sz="1200" kern="100" dirty="0">
                          <a:effectLst/>
                        </a:rPr>
                        <a:t>密钥）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F0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F0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00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CEB726EDC01B793BC37DC09E2F768534</a:t>
                      </a:r>
                    </a:p>
                  </a:txBody>
                  <a:tcPr marL="68580" marR="68580" marT="0" marB="0" anchor="ctr"/>
                </a:tc>
              </a:tr>
              <a:tr h="735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标识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长度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密钥类型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使用权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更改权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密钥版本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算法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标识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密钥值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675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07</a:t>
                      </a:r>
                      <a:endParaRPr lang="en-US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0x15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3e</a:t>
                      </a:r>
                      <a:r>
                        <a:rPr lang="zh-CN" sz="1200" kern="100" dirty="0">
                          <a:effectLst/>
                        </a:rPr>
                        <a:t>（消费密钥）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F0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F0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01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09F4ACB09131420B8FE1B4CC007AC52B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735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标识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长度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密钥类型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使用权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更改权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密钥版本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算法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标识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密钥值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675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08</a:t>
                      </a:r>
                      <a:endParaRPr lang="en-US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0x15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3f</a:t>
                      </a:r>
                      <a:r>
                        <a:rPr lang="zh-CN" sz="1200" kern="100" dirty="0">
                          <a:effectLst/>
                        </a:rPr>
                        <a:t>（圈存密钥）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F0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F0</a:t>
                      </a:r>
                      <a:endParaRPr lang="zh-CN" sz="12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01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00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EB9BC6DCDF74FF4E4B43F2E34A6727B6</a:t>
                      </a:r>
                      <a:endParaRPr lang="zh-CN" sz="12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持卡人基本文件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其文件中存储着持卡人的基本信息，如持卡人姓名、证件号码等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在二进制文件中，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当数据的位数没有占满时，数据元左靠齐且右补十六进制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”0”</a:t>
            </a:r>
            <a:endParaRPr lang="zh-CN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zh-CN" altLang="en-US" sz="24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48335" y="3357245"/>
          <a:ext cx="7940040" cy="2473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3750"/>
                <a:gridCol w="2381885"/>
                <a:gridCol w="793115"/>
                <a:gridCol w="3971290"/>
              </a:tblGrid>
              <a:tr h="353695"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文件体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53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字节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数据元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长度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值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卡类型标识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53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本行职工标识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3-22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持卡人姓名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SAMPLE.CARD.ADF1</a:t>
                      </a:r>
                      <a:endParaRPr lang="en-US" sz="1600" kern="100" dirty="0" smtClean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53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23-54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持卡人证件号码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11010298121800101101029812180010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持卡人证件类型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05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应用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基本文件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其文件中存储着应用的基本信息，如应用启用日期、有效日期等</a:t>
            </a:r>
            <a:endParaRPr lang="zh-CN" altLang="en-US" sz="24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09625" y="2708910"/>
          <a:ext cx="7853680" cy="3093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5495"/>
                <a:gridCol w="2355215"/>
                <a:gridCol w="785495"/>
                <a:gridCol w="3927475"/>
              </a:tblGrid>
              <a:tr h="309245"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文件体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字节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数据元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长度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值</a:t>
                      </a:r>
                    </a:p>
                  </a:txBody>
                  <a:tcPr marL="68580" marR="68580" marT="0" marB="0" anchor="ctr"/>
                </a:tc>
              </a:tr>
              <a:tr h="3092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1-8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发卡方标识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6264002233330001</a:t>
                      </a:r>
                    </a:p>
                  </a:txBody>
                  <a:tcPr marL="68580" marR="68580" marT="0" marB="0" anchor="ctr"/>
                </a:tc>
              </a:tr>
              <a:tr h="3092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应用类型标识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03</a:t>
                      </a:r>
                    </a:p>
                  </a:txBody>
                  <a:tcPr marL="68580" marR="68580" marT="0" marB="0" anchor="ctr"/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发卡方应用版本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01</a:t>
                      </a:r>
                    </a:p>
                  </a:txBody>
                  <a:tcPr marL="68580" marR="68580" marT="0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11-20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应用序列号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00012001081700000001</a:t>
                      </a:r>
                    </a:p>
                  </a:txBody>
                  <a:tcPr marL="68580" marR="68580" marT="0" marB="0" anchor="ctr"/>
                </a:tc>
              </a:tr>
              <a:tr h="3092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21-24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应用启用日期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20010101</a:t>
                      </a:r>
                    </a:p>
                  </a:txBody>
                  <a:tcPr marL="68580" marR="68580" marT="0" marB="0" anchor="ctr"/>
                </a:tc>
              </a:tr>
              <a:tr h="3092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25-28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应用有效日期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20011231</a:t>
                      </a:r>
                    </a:p>
                  </a:txBody>
                  <a:tcPr marL="68580" marR="68580" marT="0" marB="0" anchor="ctr"/>
                </a:tc>
              </a:tr>
              <a:tr h="6191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29-30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发卡方自定义FCI数据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5566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如何创建文件？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终端发送“创建文件”的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命令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，卡片收到之后对该命令进行解析并处理。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所谓解析，就是根据命令的内容判断创建的是何种文件，然后再进行创建。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注意：在解析的过程中必须考虑到终端发送的命令可能存在的错误情况，并抛出异常。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具体命令见实验文档</a:t>
            </a:r>
            <a:r>
              <a:rPr lang="en-US" altLang="zh-CN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7772400" cy="4572000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如何写密钥文件？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密钥文件是按照记录逐一写入的，也就是有几条密钥记录，就需要发送几条“写密钥”的命令。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终端发送“写密钥”命令，卡片执行对应的操作，取出命令中的数据，并写入已建立的密钥文件中。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FF0000"/>
              </a:solidFill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具体命令见实验文档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31640" y="260039"/>
            <a:ext cx="686801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智能卡的文件系统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647564" y="1376772"/>
            <a:ext cx="8136904" cy="4572000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如何读写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二进制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文件？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写二进制文件只需要一条命令，根据命令的内容获得需要参数，并写入已创建的持卡人基本文件或应用基本文件中；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注意：写入前要先检测写入的数据是否超过文件限定的大小</a:t>
            </a:r>
            <a:endParaRPr lang="en-US" altLang="zh-CN" sz="2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读二进制与写二进制命令类似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具体命令见实验文档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其他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智能卡对象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永久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对象：需要永久保存的对象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临时对象：被频繁访问的临时的对象，如计算过程中产生的中间变量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卡异常抛出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通过调用</a:t>
            </a:r>
            <a:r>
              <a:rPr lang="en-US" altLang="zh-CN" sz="20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throwIt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()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方法抛出异常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59732" y="2805473"/>
            <a:ext cx="3705502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8808" y="4307915"/>
            <a:ext cx="8100973" cy="270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80613" y="5811645"/>
            <a:ext cx="6389915" cy="347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本</a:t>
            </a:r>
            <a:r>
              <a:rPr lang="zh-CN" altLang="en-US" sz="4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次实验</a:t>
            </a:r>
            <a:endParaRPr lang="zh-CN" altLang="en-US" sz="4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5556" y="1447800"/>
            <a:ext cx="8388932" cy="507754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仔细阅读每一个辅助类，了解辅助类中每个变量，每个函数的作用；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认真阅读实验二文档中的命令；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利用已给的辅助类来建立电子钱包中的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文件系统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可以根据自己的理解来修改辅助类；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按照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已给的脚本命令顺序输入来建立文件和写入文件，返回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9000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则为成功；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可以通过发送“读取文件”命令测试是否写入成功。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900608" y="0"/>
            <a:ext cx="10844055" cy="6861175"/>
          </a:xfrm>
          <a:prstGeom prst="rect">
            <a:avLst/>
          </a:prstGeom>
        </p:spPr>
      </p:pic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172200" y="6191250"/>
            <a:ext cx="2476500" cy="476250"/>
          </a:xfrm>
          <a:prstGeom prst="rect">
            <a:avLst/>
          </a:prstGeom>
          <a:noFill/>
          <a:ln>
            <a:miter lim="800000"/>
          </a:ln>
        </p:spPr>
        <p:txBody>
          <a:bodyPr wrap="square" lIns="91440" tIns="45720" rIns="91440" bIns="45720" anchorCtr="0"/>
          <a:lstStyle>
            <a:lvl1pPr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C8E3AA71-A26B-4DEC-97FE-63A87B34C4D4}" type="slidenum">
              <a:rPr lang="en-US" altLang="zh-CN" sz="1400">
                <a:solidFill>
                  <a:schemeClr val="tx2"/>
                </a:solidFill>
              </a:rPr>
              <a:pPr algn="r" eaLnBrk="1" hangingPunct="1"/>
              <a:t>27</a:t>
            </a:fld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358080" y="173509"/>
            <a:ext cx="8534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accent1"/>
                </a:solidFill>
                <a:ea typeface="隶书" panose="02010509060101010101" pitchFamily="49" charset="-122"/>
              </a:rPr>
              <a:t>迷人风景只有站在一定高度才能领略，望诸君努力，谢谢！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9999FF"/>
            </a:gs>
            <a:gs pos="50000">
              <a:srgbClr val="333399"/>
            </a:gs>
            <a:gs pos="100000">
              <a:srgbClr val="9999FF"/>
            </a:gs>
          </a:gsLst>
          <a:lin ang="189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9999FF"/>
            </a:gs>
            <a:gs pos="50000">
              <a:srgbClr val="333399"/>
            </a:gs>
            <a:gs pos="100000">
              <a:srgbClr val="9999FF"/>
            </a:gs>
          </a:gsLst>
          <a:lin ang="189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1403</Words>
  <Application>WPS 演示</Application>
  <PresentationFormat>全屏显示(4:3)</PresentationFormat>
  <Paragraphs>359</Paragraphs>
  <Slides>28</Slides>
  <Notes>6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0" baseType="lpstr">
      <vt:lpstr>自定义设计方案</vt:lpstr>
      <vt:lpstr>平衡</vt:lpstr>
      <vt:lpstr>电子钱包的文件系统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其他</vt:lpstr>
      <vt:lpstr>本次实验</vt:lpstr>
      <vt:lpstr>幻灯片 27</vt:lpstr>
    </vt:vector>
  </TitlesOfParts>
  <Company>中山大学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信息服务的RFID理论与技术研究</dc:title>
  <dc:creator>Administrator</dc:creator>
  <cp:lastModifiedBy>ASUS</cp:lastModifiedBy>
  <cp:revision>2763</cp:revision>
  <dcterms:created xsi:type="dcterms:W3CDTF">2005-10-18T02:59:00Z</dcterms:created>
  <dcterms:modified xsi:type="dcterms:W3CDTF">2017-03-07T14:44:40Z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2052-10.1.0.6206</vt:lpwstr>
  </property>
</Properties>
</file>